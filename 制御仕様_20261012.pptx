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19" r:id="rId2"/>
    <p:sldId id="314" r:id="rId3"/>
    <p:sldId id="357" r:id="rId4"/>
    <p:sldId id="317" r:id="rId5"/>
    <p:sldId id="320" r:id="rId6"/>
    <p:sldId id="324" r:id="rId7"/>
    <p:sldId id="323" r:id="rId8"/>
    <p:sldId id="358" r:id="rId9"/>
    <p:sldId id="333" r:id="rId10"/>
    <p:sldId id="337" r:id="rId11"/>
    <p:sldId id="340" r:id="rId12"/>
    <p:sldId id="351" r:id="rId13"/>
    <p:sldId id="353" r:id="rId14"/>
    <p:sldId id="334" r:id="rId15"/>
    <p:sldId id="359" r:id="rId16"/>
    <p:sldId id="361" r:id="rId17"/>
    <p:sldId id="354" r:id="rId18"/>
    <p:sldId id="360" r:id="rId19"/>
    <p:sldId id="336" r:id="rId20"/>
    <p:sldId id="356" r:id="rId21"/>
    <p:sldId id="312" r:id="rId22"/>
    <p:sldId id="322" r:id="rId23"/>
    <p:sldId id="316" r:id="rId24"/>
    <p:sldId id="313" r:id="rId2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AEB"/>
    <a:srgbClr val="67FF75"/>
    <a:srgbClr val="FF6699"/>
    <a:srgbClr val="0000FF"/>
    <a:srgbClr val="FFD1E8"/>
    <a:srgbClr val="FFCCFF"/>
    <a:srgbClr val="FF99CC"/>
    <a:srgbClr val="E4EEF8"/>
    <a:srgbClr val="45A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59" autoAdjust="0"/>
  </p:normalViewPr>
  <p:slideViewPr>
    <p:cSldViewPr snapToGrid="0">
      <p:cViewPr varScale="1">
        <p:scale>
          <a:sx n="110" d="100"/>
          <a:sy n="110" d="100"/>
        </p:scale>
        <p:origin x="630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FCEE6-B98F-49D0-980D-42EDFBBBEF2A}" type="datetimeFigureOut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793F8-F615-4C51-8776-280BDA29BB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771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3F950C-5BE1-4D0B-8FBE-72E69EC13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3946642-517F-C788-2AC3-A0FCA93F0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77F677-0405-CBE3-BEC8-E8F255C8E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254C-6AE4-4656-AD08-D5707E68C983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BBBE60-DA82-BF71-18BB-96875A1B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A15FE36-952B-DE45-9903-D1F2E5DBF5F7}"/>
              </a:ext>
            </a:extLst>
          </p:cNvPr>
          <p:cNvSpPr txBox="1"/>
          <p:nvPr userDrawn="1"/>
        </p:nvSpPr>
        <p:spPr>
          <a:xfrm>
            <a:off x="3943006" y="80683"/>
            <a:ext cx="43059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私たちは、法令・ルールを遵守し、正しい仕事をします</a:t>
            </a:r>
          </a:p>
        </p:txBody>
      </p:sp>
      <p:sp>
        <p:nvSpPr>
          <p:cNvPr id="9" name="スライド番号プレースホルダー 4">
            <a:extLst>
              <a:ext uri="{FF2B5EF4-FFF2-40B4-BE49-F238E27FC236}">
                <a16:creationId xmlns:a16="http://schemas.microsoft.com/office/drawing/2014/main" id="{A0AF55DD-B2A8-DC09-D613-B8D62AACA0F9}"/>
              </a:ext>
            </a:extLst>
          </p:cNvPr>
          <p:cNvSpPr txBox="1">
            <a:spLocks/>
          </p:cNvSpPr>
          <p:nvPr userDrawn="1"/>
        </p:nvSpPr>
        <p:spPr>
          <a:xfrm>
            <a:off x="11773662" y="6534916"/>
            <a:ext cx="400050" cy="30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B2557B-0E02-4788-8B48-8AAE9034C16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CD0F28-6838-D8A5-224B-AA43DD24D4C4}"/>
              </a:ext>
            </a:extLst>
          </p:cNvPr>
          <p:cNvSpPr txBox="1"/>
          <p:nvPr userDrawn="1"/>
        </p:nvSpPr>
        <p:spPr>
          <a:xfrm>
            <a:off x="11047445" y="34516"/>
            <a:ext cx="11053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Confidential</a:t>
            </a:r>
          </a:p>
          <a:p>
            <a:pPr algn="ctr"/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秘</a:t>
            </a:r>
          </a:p>
        </p:txBody>
      </p:sp>
    </p:spTree>
    <p:extLst>
      <p:ext uri="{BB962C8B-B14F-4D97-AF65-F5344CB8AC3E}">
        <p14:creationId xmlns:p14="http://schemas.microsoft.com/office/powerpoint/2010/main" val="1523673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C05E70-B666-CE41-C0A3-D4BA1FD52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7BB242-C626-7829-2746-087BE5C95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B3B53B-6D8F-FC1B-CEDE-1A71232DB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54D8-B869-4C8C-9838-C0208815C12B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2FAC90-3543-955E-3E2B-FA373E2AC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971E9A-766E-AB5A-3DC1-3A417692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920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7E9C9E-7119-25EC-AD4F-7B0FFB691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E8E314-B447-37E7-86CD-58EB6FC2F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FF475B-67CC-D8B2-DDF0-2726E69A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1D7A-5033-41D9-B3E1-B713002833EA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1BBCAD-02FD-CDCA-FB67-14DA64248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36F3F0-3784-E680-AF3D-A24ED3CB2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146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F3899-E013-73D8-EFCF-706825CB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A40842-8406-DA2E-6494-C6BE265B9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F1E3BD-689A-5305-AE45-DC4A146DE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0FC2F3-59C8-04E4-FBA9-C8EBF1D51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D4B9F-5D73-4122-82E7-78046A911E43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45DA01-7433-EC4E-DC2F-4422CB7D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2D703E-9F76-76D2-24A8-E2543C23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58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044632-E216-C3F2-7667-9E07AF48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931DC9-99F3-F641-C8F3-9BED44FA6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EAA1E3-25A7-4B11-B7AA-5778F4B1B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0DF559-39FD-0864-6D62-A3D0A015DF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5AE79F9-C5DB-DCD9-C765-6279AD95F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E0CCD6-0182-9C61-4971-25B98FD93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47C9-DFE7-4C5D-86F7-75D016519A8E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E2146D0-184C-2B70-966E-1D3C631BF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531063A-241E-2E9D-EF14-A7792A12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286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FDC66F-B59A-97FC-F3B8-3CC851F31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69104"/>
          </a:xfrm>
        </p:spPr>
        <p:txBody>
          <a:bodyPr>
            <a:normAutofit/>
          </a:bodyPr>
          <a:lstStyle>
            <a:lvl1pPr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CDEEC72-92CB-98AB-B4E7-E569C66C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4DDAF-2876-4C27-AAED-827BAA0BBA53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81E0F7F-BB16-5AA0-D5B4-B8F5C08B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8CE0AE9-985C-84C5-43E1-CBF6A6BAB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3662" y="6534916"/>
            <a:ext cx="400050" cy="304796"/>
          </a:xfrm>
        </p:spPr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E5903E6-4E22-B67B-04B2-A4CA1D6503ED}"/>
              </a:ext>
            </a:extLst>
          </p:cNvPr>
          <p:cNvCxnSpPr>
            <a:cxnSpLocks/>
          </p:cNvCxnSpPr>
          <p:nvPr userDrawn="1"/>
        </p:nvCxnSpPr>
        <p:spPr>
          <a:xfrm>
            <a:off x="80682" y="469103"/>
            <a:ext cx="120216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462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65E2706-0C4B-CFC0-C450-B3765586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85143-426D-4F15-A075-EC375F981561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491D56-ACEE-ABF7-F4B6-8845ED74D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37BCCF-2AA6-1B53-CE25-420CCE00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55858"/>
            <a:ext cx="2743200" cy="202142"/>
          </a:xfr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70B2557B-0E02-4788-8B48-8AAE9034C16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28918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E3584-AC0A-D80D-4443-BD676D65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A02106-CA80-72E7-35C8-40A6C2BA8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4FF85FB-E450-20C6-D079-0AB20BA25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1D9237-43B3-D722-B616-2DAD9DA5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89DC-3ABB-4217-B1A4-142A2AE811A1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146433-8077-759C-937D-5FFB74BFF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2958E5-BE6E-27AB-B044-60B067C6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1072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0EE396-F65B-BFE0-ACD7-639B362C3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14A779-BC45-7EDF-A58F-C9699F21D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7B5CE48-9152-446D-0981-A493D68A9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CAD27D-E2B8-E65A-DAFE-4ED40ADB7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42F1-D39C-4860-8C58-C88D8CC1EA2F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A313F3-66BE-BF09-9F86-CA555AEA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E523A5E-A74B-3ADB-8247-E885FDBA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122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BF45BC-DCFF-F3CE-A1F6-5AE306BE3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BDDD0B-FC20-9197-BCF8-8028450AC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0AA42-70AD-F84D-3644-9B5CF21FE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EC-2B18-4AC0-A8CF-AE991DA3770A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1B2CBF-366C-E938-AC98-AE115153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F4E2C9-86BF-BCA3-6001-F9BD0A5E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654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0AD1DD7-E856-C283-D23B-79C3E6A55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A78D0B-1CB2-3115-31EE-C3BFAB220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A28734-88B5-6013-DCAF-1062B6BB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C828C-4F95-437F-8A85-DF3372875069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89AD43-425D-1A57-3E8A-4A4F01A83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031206-E23F-FE2F-C4CF-6548384D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387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3D3297C-77AA-6FC1-2966-76642C58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0AADFF-0A32-9259-8E9F-B851AB88B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0780A1-7DB2-7A12-C252-F90193903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93C2A-0EF7-4600-A183-ED5F1DEE88AD}" type="datetime1">
              <a:rPr kumimoji="1" lang="ja-JP" altLang="en-US" smtClean="0"/>
              <a:t>2026/10/11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E10571-5BEB-EBD4-397E-16464E3E6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39762F-DA5C-134D-214C-EB4EEAEEC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420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17EE972-0785-44B9-FFE1-B15FEFAD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0FA4311-EF4D-53DD-7382-FB0BB5954776}"/>
              </a:ext>
            </a:extLst>
          </p:cNvPr>
          <p:cNvSpPr txBox="1"/>
          <p:nvPr/>
        </p:nvSpPr>
        <p:spPr>
          <a:xfrm>
            <a:off x="100660" y="158596"/>
            <a:ext cx="4769254" cy="469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第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 周辺認識機能 制御仕様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DR</a:t>
            </a:r>
            <a:endParaRPr kumimoji="1" lang="ja-JP" altLang="en-US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ED082A-2D07-69F3-6AEF-3A00A6198608}"/>
              </a:ext>
            </a:extLst>
          </p:cNvPr>
          <p:cNvSpPr txBox="1"/>
          <p:nvPr/>
        </p:nvSpPr>
        <p:spPr>
          <a:xfrm>
            <a:off x="1733265" y="2958999"/>
            <a:ext cx="8725466" cy="94000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5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 制御仕様</a:t>
            </a:r>
            <a:r>
              <a:rPr lang="ja-JP" altLang="en-US" sz="5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説明</a:t>
            </a:r>
            <a:endParaRPr kumimoji="1" lang="ja-JP" altLang="en-US" sz="5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CF46DF-56BA-19C5-7A74-A35A74262DF4}"/>
              </a:ext>
            </a:extLst>
          </p:cNvPr>
          <p:cNvSpPr txBox="1"/>
          <p:nvPr/>
        </p:nvSpPr>
        <p:spPr>
          <a:xfrm>
            <a:off x="4471996" y="4949469"/>
            <a:ext cx="3248005" cy="13554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12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>
              <a:lnSpc>
                <a:spcPct val="120000"/>
              </a:lnSpc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自動運転企画室　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>
              <a:lnSpc>
                <a:spcPct val="120000"/>
              </a:lnSpc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先行開発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Gr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松村健太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6977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EF3F6-5A33-F995-9040-23C417910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723EC-8EB5-3686-676B-9A44B59E1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7C74A8-8A96-0BC0-9E09-7F680579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6DFB12-819E-C874-7408-44C6CC828347}"/>
              </a:ext>
            </a:extLst>
          </p:cNvPr>
          <p:cNvSpPr txBox="1"/>
          <p:nvPr/>
        </p:nvSpPr>
        <p:spPr>
          <a:xfrm>
            <a:off x="0" y="591917"/>
            <a:ext cx="5229317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周辺認識処理の全体概要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ECB2A02-8553-7F7D-41C3-103062646F16}"/>
              </a:ext>
            </a:extLst>
          </p:cNvPr>
          <p:cNvSpPr txBox="1"/>
          <p:nvPr/>
        </p:nvSpPr>
        <p:spPr>
          <a:xfrm>
            <a:off x="0" y="3857465"/>
            <a:ext cx="3642344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今後</a:t>
            </a:r>
            <a:r>
              <a: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の検討事項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2386484-7F16-0593-4C5E-0D6DA8552BB9}"/>
              </a:ext>
            </a:extLst>
          </p:cNvPr>
          <p:cNvGrpSpPr/>
          <p:nvPr/>
        </p:nvGrpSpPr>
        <p:grpSpPr>
          <a:xfrm>
            <a:off x="0" y="1768541"/>
            <a:ext cx="4859000" cy="1507016"/>
            <a:chOff x="0" y="2594560"/>
            <a:chExt cx="4859000" cy="1507016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39EE8BDF-8AAA-CD2B-C202-C0B94243329F}"/>
                </a:ext>
              </a:extLst>
            </p:cNvPr>
            <p:cNvSpPr txBox="1"/>
            <p:nvPr/>
          </p:nvSpPr>
          <p:spPr>
            <a:xfrm>
              <a:off x="0" y="2594560"/>
              <a:ext cx="3642344" cy="594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 </a:t>
              </a:r>
              <a:r>
                <a:rPr kumimoji="1"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</a:t>
              </a:r>
              <a:r>
                <a:rPr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の検討事項</a:t>
              </a:r>
              <a:endPara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90D49BC6-804B-E272-CC82-D3BFD42EA289}"/>
                </a:ext>
              </a:extLst>
            </p:cNvPr>
            <p:cNvSpPr txBox="1"/>
            <p:nvPr/>
          </p:nvSpPr>
          <p:spPr>
            <a:xfrm>
              <a:off x="597897" y="3189275"/>
              <a:ext cx="4261103" cy="9123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2-1. </a:t>
              </a:r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kumimoji="1" lang="en-US" altLang="ja-JP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</a:t>
              </a:r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の機能配置</a:t>
              </a:r>
              <a:endPara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kumimoji="1" lang="en-US" altLang="ja-JP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2-2. </a:t>
              </a:r>
              <a:r>
                <a:rPr kumimoji="1"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kumimoji="1" lang="en-US" altLang="ja-JP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lang="ja-JP" altLang="en-US" sz="2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828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B138F-B652-90C3-FA7D-0E67788E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DA15CB-2AFD-E9FB-1133-10E8D0951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3386BA-1F14-D606-F043-11ED3A29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4D7FCF-B9C3-AD95-5B8E-7F1510ADDD97}"/>
              </a:ext>
            </a:extLst>
          </p:cNvPr>
          <p:cNvSpPr txBox="1"/>
          <p:nvPr/>
        </p:nvSpPr>
        <p:spPr>
          <a:xfrm>
            <a:off x="0" y="591917"/>
            <a:ext cx="5229317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周辺認識処理の全体概要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54366B1-DE96-08C2-781F-27C73EC4A79D}"/>
              </a:ext>
            </a:extLst>
          </p:cNvPr>
          <p:cNvSpPr txBox="1"/>
          <p:nvPr/>
        </p:nvSpPr>
        <p:spPr>
          <a:xfrm>
            <a:off x="0" y="3857465"/>
            <a:ext cx="3642344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今後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の検討事項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7F3D907-023F-FD10-8259-37646A652E48}"/>
              </a:ext>
            </a:extLst>
          </p:cNvPr>
          <p:cNvGrpSpPr/>
          <p:nvPr/>
        </p:nvGrpSpPr>
        <p:grpSpPr>
          <a:xfrm>
            <a:off x="0" y="1768541"/>
            <a:ext cx="4859000" cy="1507016"/>
            <a:chOff x="0" y="2594560"/>
            <a:chExt cx="4859000" cy="1507016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05E8F5C4-55EA-98FE-AE08-B8D4CFB9B253}"/>
                </a:ext>
              </a:extLst>
            </p:cNvPr>
            <p:cNvSpPr txBox="1"/>
            <p:nvPr/>
          </p:nvSpPr>
          <p:spPr>
            <a:xfrm>
              <a:off x="0" y="2594560"/>
              <a:ext cx="3642344" cy="594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</a:t>
              </a:r>
              <a:r>
                <a:rPr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の検討事項</a:t>
              </a:r>
              <a:endPara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49CDDB5-CB68-9D3C-F83C-6A58CC63246A}"/>
                </a:ext>
              </a:extLst>
            </p:cNvPr>
            <p:cNvSpPr txBox="1"/>
            <p:nvPr/>
          </p:nvSpPr>
          <p:spPr>
            <a:xfrm>
              <a:off x="597897" y="3189275"/>
              <a:ext cx="4261103" cy="9123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2-1. </a:t>
              </a:r>
              <a:r>
                <a:rPr kumimoji="1" lang="ja-JP" altLang="en-US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kumimoji="1" lang="en-US" altLang="ja-JP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</a:t>
              </a:r>
              <a:r>
                <a:rPr kumimoji="1" lang="ja-JP" altLang="en-US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の機能配置</a:t>
              </a:r>
              <a:endParaRPr kumimoji="1" lang="en-US" altLang="ja-JP" sz="2400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kumimoji="1" lang="en-US" altLang="ja-JP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2-2. </a:t>
              </a:r>
              <a:r>
                <a:rPr kumimoji="1" lang="ja-JP" altLang="en-US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kumimoji="1" lang="en-US" altLang="ja-JP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lang="ja-JP" altLang="en-US" sz="2400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2400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848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2AAB0-F358-1E5A-67E0-AE3791E66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2EB523-B64D-38D1-D4A2-8AB880AA2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周辺認識機能の全体像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9829E42-DEA7-1494-7E99-BE0C4BB5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DB3A54-EAF4-BD5F-353B-F68A551C9DE6}"/>
              </a:ext>
            </a:extLst>
          </p:cNvPr>
          <p:cNvSpPr txBox="1"/>
          <p:nvPr/>
        </p:nvSpPr>
        <p:spPr>
          <a:xfrm>
            <a:off x="0" y="469100"/>
            <a:ext cx="1217371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 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 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学習ベース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 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16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Autoware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lang="ja-JP" altLang="en-US" sz="24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155733A-ED48-6AF8-238C-1F5B76A3C1F5}"/>
              </a:ext>
            </a:extLst>
          </p:cNvPr>
          <p:cNvSpPr/>
          <p:nvPr/>
        </p:nvSpPr>
        <p:spPr>
          <a:xfrm>
            <a:off x="1888459" y="1286192"/>
            <a:ext cx="180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endParaRPr kumimoji="1"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7A10213-685E-1807-BB26-31D9F7B47096}"/>
              </a:ext>
            </a:extLst>
          </p:cNvPr>
          <p:cNvSpPr/>
          <p:nvPr/>
        </p:nvSpPr>
        <p:spPr>
          <a:xfrm>
            <a:off x="6566263" y="1286192"/>
            <a:ext cx="1800000" cy="719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7CCFF73-D0B4-2BFB-F36C-B0B4EFFF88AE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8366263" y="1646191"/>
            <a:ext cx="34073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6257A445-6273-F795-8806-5C4C31B8AB2D}"/>
              </a:ext>
            </a:extLst>
          </p:cNvPr>
          <p:cNvCxnSpPr>
            <a:cxnSpLocks/>
          </p:cNvCxnSpPr>
          <p:nvPr/>
        </p:nvCxnSpPr>
        <p:spPr>
          <a:xfrm>
            <a:off x="77077" y="1469809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CE4BD44-9083-9183-07A9-504BC0F92CBC}"/>
              </a:ext>
            </a:extLst>
          </p:cNvPr>
          <p:cNvSpPr txBox="1"/>
          <p:nvPr/>
        </p:nvSpPr>
        <p:spPr>
          <a:xfrm>
            <a:off x="22242" y="1173447"/>
            <a:ext cx="15488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時刻同期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×8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7336ED99-03C3-741F-C778-AFF5EA2626D5}"/>
              </a:ext>
            </a:extLst>
          </p:cNvPr>
          <p:cNvCxnSpPr>
            <a:cxnSpLocks/>
          </p:cNvCxnSpPr>
          <p:nvPr/>
        </p:nvCxnSpPr>
        <p:spPr>
          <a:xfrm>
            <a:off x="77077" y="1840033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6ABC89F-E847-AA67-EF88-972745999BC1}"/>
              </a:ext>
            </a:extLst>
          </p:cNvPr>
          <p:cNvSpPr txBox="1"/>
          <p:nvPr/>
        </p:nvSpPr>
        <p:spPr>
          <a:xfrm>
            <a:off x="22242" y="1546089"/>
            <a:ext cx="1261884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自車移動情報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4A805414-42FB-3F6A-2FE8-ACC9BFE708C6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3688459" y="1646191"/>
            <a:ext cx="287780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8A9F8BE-E78B-FABC-5A68-607FB9A6A864}"/>
              </a:ext>
            </a:extLst>
          </p:cNvPr>
          <p:cNvSpPr txBox="1"/>
          <p:nvPr/>
        </p:nvSpPr>
        <p:spPr>
          <a:xfrm>
            <a:off x="3695956" y="1055563"/>
            <a:ext cx="2279791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2E7C873-8441-F3B0-F5F5-C7F6BCC25778}"/>
              </a:ext>
            </a:extLst>
          </p:cNvPr>
          <p:cNvSpPr txBox="1"/>
          <p:nvPr/>
        </p:nvSpPr>
        <p:spPr>
          <a:xfrm>
            <a:off x="3688459" y="2135059"/>
            <a:ext cx="245451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 →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91E3229-C9CC-A2F0-474C-83B33F6349FC}"/>
              </a:ext>
            </a:extLst>
          </p:cNvPr>
          <p:cNvSpPr txBox="1"/>
          <p:nvPr/>
        </p:nvSpPr>
        <p:spPr>
          <a:xfrm>
            <a:off x="8377645" y="1105767"/>
            <a:ext cx="2728632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042AB206-5150-F48D-771C-B4A71901F49C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695956" y="2006189"/>
            <a:ext cx="3770307" cy="652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838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730B8-1289-C435-2788-A5871FA44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D8CE43-4C6B-F278-68BC-3773226FF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周辺認識機能の全体像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F1834FC-3F64-D5E8-9405-D7F6AD416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60D500-FBD1-EB52-4316-EE09F524DE95}"/>
              </a:ext>
            </a:extLst>
          </p:cNvPr>
          <p:cNvSpPr txBox="1"/>
          <p:nvPr/>
        </p:nvSpPr>
        <p:spPr>
          <a:xfrm>
            <a:off x="0" y="469100"/>
            <a:ext cx="1217371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 </a:t>
            </a:r>
            <a:r>
              <a:rPr lang="ja-JP" altLang="en-US" sz="2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r>
              <a:rPr lang="en-US" altLang="ja-JP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学習ベース</a:t>
            </a:r>
            <a:r>
              <a:rPr lang="en-US" altLang="ja-JP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16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Autoware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lang="ja-JP" altLang="en-US" sz="24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FCF65F1-2099-E478-DE5F-AC8D5EE81131}"/>
              </a:ext>
            </a:extLst>
          </p:cNvPr>
          <p:cNvSpPr/>
          <p:nvPr/>
        </p:nvSpPr>
        <p:spPr>
          <a:xfrm>
            <a:off x="1888459" y="1286192"/>
            <a:ext cx="180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endParaRPr kumimoji="1"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4B30F5F-FE79-189B-0FE0-5333E861FD7D}"/>
              </a:ext>
            </a:extLst>
          </p:cNvPr>
          <p:cNvSpPr/>
          <p:nvPr/>
        </p:nvSpPr>
        <p:spPr>
          <a:xfrm>
            <a:off x="6566263" y="1286192"/>
            <a:ext cx="1800000" cy="719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9385E527-36C6-B318-A33A-996CB52B9535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8366263" y="1646191"/>
            <a:ext cx="34073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2DE1CFC4-3F85-1AFB-9960-CD3203725979}"/>
              </a:ext>
            </a:extLst>
          </p:cNvPr>
          <p:cNvCxnSpPr>
            <a:cxnSpLocks/>
          </p:cNvCxnSpPr>
          <p:nvPr/>
        </p:nvCxnSpPr>
        <p:spPr>
          <a:xfrm>
            <a:off x="77077" y="1469809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266E6BA-6B88-54B0-D006-5A9A5BE62293}"/>
              </a:ext>
            </a:extLst>
          </p:cNvPr>
          <p:cNvSpPr txBox="1"/>
          <p:nvPr/>
        </p:nvSpPr>
        <p:spPr>
          <a:xfrm>
            <a:off x="22242" y="1173447"/>
            <a:ext cx="15488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時刻同期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×8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4265E68A-6697-EEFF-B760-E9421E7DA6C1}"/>
              </a:ext>
            </a:extLst>
          </p:cNvPr>
          <p:cNvCxnSpPr>
            <a:cxnSpLocks/>
          </p:cNvCxnSpPr>
          <p:nvPr/>
        </p:nvCxnSpPr>
        <p:spPr>
          <a:xfrm>
            <a:off x="77077" y="1840033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A51E3C6-8074-B525-9E5E-9A7AA1B89B5D}"/>
              </a:ext>
            </a:extLst>
          </p:cNvPr>
          <p:cNvSpPr txBox="1"/>
          <p:nvPr/>
        </p:nvSpPr>
        <p:spPr>
          <a:xfrm>
            <a:off x="22242" y="1546089"/>
            <a:ext cx="1261884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自車移動情報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254B94B1-B6FC-3ED9-5610-127A82B130EB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688459" y="1646192"/>
            <a:ext cx="28778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5F6DFC2-BF15-7B58-AB3C-ABF1544E9173}"/>
              </a:ext>
            </a:extLst>
          </p:cNvPr>
          <p:cNvSpPr txBox="1"/>
          <p:nvPr/>
        </p:nvSpPr>
        <p:spPr>
          <a:xfrm>
            <a:off x="3695956" y="1055563"/>
            <a:ext cx="2279791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0CDFDAA-E8AC-A7DB-C1A7-2DE387B6CC46}"/>
              </a:ext>
            </a:extLst>
          </p:cNvPr>
          <p:cNvSpPr txBox="1"/>
          <p:nvPr/>
        </p:nvSpPr>
        <p:spPr>
          <a:xfrm>
            <a:off x="3688459" y="2135059"/>
            <a:ext cx="245451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 →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73F8C6F-B6A0-2584-4EEB-AC9686BB544A}"/>
              </a:ext>
            </a:extLst>
          </p:cNvPr>
          <p:cNvSpPr txBox="1"/>
          <p:nvPr/>
        </p:nvSpPr>
        <p:spPr>
          <a:xfrm>
            <a:off x="8377645" y="1105767"/>
            <a:ext cx="2728632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FACB7294-0436-7F48-63F2-7899A9D0B9D1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695956" y="2006189"/>
            <a:ext cx="3770307" cy="652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E6D43EC-569D-E8D5-2079-9485E675F651}"/>
              </a:ext>
            </a:extLst>
          </p:cNvPr>
          <p:cNvSpPr txBox="1"/>
          <p:nvPr/>
        </p:nvSpPr>
        <p:spPr>
          <a:xfrm>
            <a:off x="0" y="2896329"/>
            <a:ext cx="2954655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物標認識機能の処理概要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4E92C1C-28AF-7028-EA74-7DE8BA0D8564}"/>
              </a:ext>
            </a:extLst>
          </p:cNvPr>
          <p:cNvSpPr/>
          <p:nvPr/>
        </p:nvSpPr>
        <p:spPr>
          <a:xfrm>
            <a:off x="5695950" y="4297408"/>
            <a:ext cx="135255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図貼り付け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83B21C9-B96C-0316-036C-0C5D779AEA67}"/>
              </a:ext>
            </a:extLst>
          </p:cNvPr>
          <p:cNvSpPr/>
          <p:nvPr/>
        </p:nvSpPr>
        <p:spPr>
          <a:xfrm>
            <a:off x="6554880" y="1086420"/>
            <a:ext cx="5218781" cy="104863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89FA919-8ECB-1300-E569-A679919AE35A}"/>
              </a:ext>
            </a:extLst>
          </p:cNvPr>
          <p:cNvSpPr/>
          <p:nvPr/>
        </p:nvSpPr>
        <p:spPr>
          <a:xfrm>
            <a:off x="3688459" y="2135735"/>
            <a:ext cx="5179316" cy="71475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EFB1A4FB-F696-1A42-F8A2-CC4803C6F7A1}"/>
              </a:ext>
            </a:extLst>
          </p:cNvPr>
          <p:cNvSpPr/>
          <p:nvPr/>
        </p:nvSpPr>
        <p:spPr>
          <a:xfrm>
            <a:off x="77077" y="1055563"/>
            <a:ext cx="6477804" cy="10794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9432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4458-5258-44C3-7B6F-D6D40D41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E4D9CC-B3D4-7E4D-B05C-B42B8554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周辺認識機能の全体像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41DA01-C16C-E470-8D33-83DDDB40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7692B5B-7E7D-9006-28F7-64A2FA0F58A9}"/>
              </a:ext>
            </a:extLst>
          </p:cNvPr>
          <p:cNvSpPr txBox="1"/>
          <p:nvPr/>
        </p:nvSpPr>
        <p:spPr>
          <a:xfrm>
            <a:off x="0" y="469100"/>
            <a:ext cx="1217371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 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学習ベース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2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1600" b="1" dirty="0" err="1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Autoware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160A456-9E67-3CC3-127E-4770C4CC2CE6}"/>
              </a:ext>
            </a:extLst>
          </p:cNvPr>
          <p:cNvSpPr/>
          <p:nvPr/>
        </p:nvSpPr>
        <p:spPr>
          <a:xfrm>
            <a:off x="1888459" y="1286192"/>
            <a:ext cx="180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endParaRPr kumimoji="1"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11E29BE-C365-16D8-F614-8F79CB302ABB}"/>
              </a:ext>
            </a:extLst>
          </p:cNvPr>
          <p:cNvSpPr/>
          <p:nvPr/>
        </p:nvSpPr>
        <p:spPr>
          <a:xfrm>
            <a:off x="6566263" y="1286192"/>
            <a:ext cx="1800000" cy="719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3633487A-A0DD-EECD-F35E-FC3BC62AE54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8366263" y="1646191"/>
            <a:ext cx="34073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CDBDAA0-5E9F-16C3-3550-985B3309A3BC}"/>
              </a:ext>
            </a:extLst>
          </p:cNvPr>
          <p:cNvCxnSpPr>
            <a:cxnSpLocks/>
          </p:cNvCxnSpPr>
          <p:nvPr/>
        </p:nvCxnSpPr>
        <p:spPr>
          <a:xfrm>
            <a:off x="77077" y="1469809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AC75C41-F938-AAF0-A1DC-BD641498C6E8}"/>
              </a:ext>
            </a:extLst>
          </p:cNvPr>
          <p:cNvSpPr txBox="1"/>
          <p:nvPr/>
        </p:nvSpPr>
        <p:spPr>
          <a:xfrm>
            <a:off x="22242" y="1173447"/>
            <a:ext cx="15488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時刻同期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×8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012D0ABB-2B3A-4E1F-7149-48FE28DA0C4E}"/>
              </a:ext>
            </a:extLst>
          </p:cNvPr>
          <p:cNvCxnSpPr>
            <a:cxnSpLocks/>
          </p:cNvCxnSpPr>
          <p:nvPr/>
        </p:nvCxnSpPr>
        <p:spPr>
          <a:xfrm>
            <a:off x="77077" y="1840033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BBE8C4E-7860-3F0B-5038-B74D7E2B9CAF}"/>
              </a:ext>
            </a:extLst>
          </p:cNvPr>
          <p:cNvSpPr txBox="1"/>
          <p:nvPr/>
        </p:nvSpPr>
        <p:spPr>
          <a:xfrm>
            <a:off x="22242" y="1546089"/>
            <a:ext cx="1261884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自車移動情報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68C5E79A-77F4-A6EA-9EE8-E917E3DCADDD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688459" y="1646192"/>
            <a:ext cx="28778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47DDFDE-BFA1-275E-51D7-969AF7EA5C0A}"/>
              </a:ext>
            </a:extLst>
          </p:cNvPr>
          <p:cNvSpPr txBox="1"/>
          <p:nvPr/>
        </p:nvSpPr>
        <p:spPr>
          <a:xfrm>
            <a:off x="3695956" y="1055563"/>
            <a:ext cx="2279791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ABE43EA-4DAC-95C4-325A-6062C89AB59B}"/>
              </a:ext>
            </a:extLst>
          </p:cNvPr>
          <p:cNvSpPr txBox="1"/>
          <p:nvPr/>
        </p:nvSpPr>
        <p:spPr>
          <a:xfrm>
            <a:off x="3688459" y="2135059"/>
            <a:ext cx="245451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 →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A3AC11B-EFF1-1570-E8D4-9F2FAFE05925}"/>
              </a:ext>
            </a:extLst>
          </p:cNvPr>
          <p:cNvSpPr txBox="1"/>
          <p:nvPr/>
        </p:nvSpPr>
        <p:spPr>
          <a:xfrm>
            <a:off x="8377645" y="1105767"/>
            <a:ext cx="2728632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31B85474-6454-0624-EE92-6C3C6C29ADC8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695956" y="2006189"/>
            <a:ext cx="3770307" cy="652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243A53A-66C8-EE99-FCD4-3032418B0F4A}"/>
              </a:ext>
            </a:extLst>
          </p:cNvPr>
          <p:cNvSpPr txBox="1"/>
          <p:nvPr/>
        </p:nvSpPr>
        <p:spPr>
          <a:xfrm>
            <a:off x="0" y="2896329"/>
            <a:ext cx="2954655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物標追跡機能の処理概要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1275E56-4F3F-913F-E6F1-CEF6A2D9A96D}"/>
              </a:ext>
            </a:extLst>
          </p:cNvPr>
          <p:cNvSpPr/>
          <p:nvPr/>
        </p:nvSpPr>
        <p:spPr>
          <a:xfrm>
            <a:off x="77078" y="1134046"/>
            <a:ext cx="11696584" cy="882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A3499BA-5234-4580-8E07-9536B4A46557}"/>
              </a:ext>
            </a:extLst>
          </p:cNvPr>
          <p:cNvSpPr/>
          <p:nvPr/>
        </p:nvSpPr>
        <p:spPr>
          <a:xfrm>
            <a:off x="3695956" y="2004256"/>
            <a:ext cx="3924044" cy="7960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96FA935-C1A9-C5F7-02E3-5E3ED009604B}"/>
              </a:ext>
            </a:extLst>
          </p:cNvPr>
          <p:cNvSpPr txBox="1"/>
          <p:nvPr/>
        </p:nvSpPr>
        <p:spPr>
          <a:xfrm>
            <a:off x="77077" y="3303498"/>
            <a:ext cx="4185761" cy="46910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地図座標系で物標追跡を実施</a:t>
            </a:r>
            <a:endParaRPr kumimoji="1" lang="ja-JP" altLang="en-US" sz="2400" b="1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DC3772E-13F8-1277-8DBD-8BBD1F90C462}"/>
              </a:ext>
            </a:extLst>
          </p:cNvPr>
          <p:cNvSpPr txBox="1"/>
          <p:nvPr/>
        </p:nvSpPr>
        <p:spPr>
          <a:xfrm>
            <a:off x="8366263" y="4881675"/>
            <a:ext cx="3919663" cy="91230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→ 地図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への</a:t>
            </a:r>
            <a:endParaRPr kumimoji="1" lang="en-US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変換情報が必要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13041B7C-1384-4F83-2314-FCB702FA7D03}"/>
              </a:ext>
            </a:extLst>
          </p:cNvPr>
          <p:cNvSpPr/>
          <p:nvPr/>
        </p:nvSpPr>
        <p:spPr>
          <a:xfrm rot="5400000">
            <a:off x="7611463" y="5180997"/>
            <a:ext cx="725237" cy="313657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047DE675-547C-8A7A-AC3F-8FEAB63E4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533028"/>
              </p:ext>
            </p:extLst>
          </p:nvPr>
        </p:nvGraphicFramePr>
        <p:xfrm>
          <a:off x="171588" y="3884326"/>
          <a:ext cx="7410312" cy="2889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312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</a:tblGrid>
              <a:tr h="354299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自車座標系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地図座標系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原点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自車後輪中心の地面投影点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地図上に定義された基準点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特徴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各時刻で座標系が変化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各時刻で共通の座標系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174307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概要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073BCBB4-7D04-6D2A-66E8-0145FA3A9DC9}"/>
              </a:ext>
            </a:extLst>
          </p:cNvPr>
          <p:cNvCxnSpPr>
            <a:cxnSpLocks/>
            <a:stCxn id="58" idx="6"/>
          </p:cNvCxnSpPr>
          <p:nvPr/>
        </p:nvCxnSpPr>
        <p:spPr>
          <a:xfrm>
            <a:off x="4833359" y="6388900"/>
            <a:ext cx="242088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楕円 57">
            <a:extLst>
              <a:ext uri="{FF2B5EF4-FFF2-40B4-BE49-F238E27FC236}">
                <a16:creationId xmlns:a16="http://schemas.microsoft.com/office/drawing/2014/main" id="{938613C7-15EC-2E2E-527D-D8B31680A12D}"/>
              </a:ext>
            </a:extLst>
          </p:cNvPr>
          <p:cNvSpPr/>
          <p:nvPr/>
        </p:nvSpPr>
        <p:spPr>
          <a:xfrm>
            <a:off x="4725359" y="633490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DB137319-74BC-462D-17D7-6B17E74471A4}"/>
              </a:ext>
            </a:extLst>
          </p:cNvPr>
          <p:cNvCxnSpPr>
            <a:cxnSpLocks/>
          </p:cNvCxnSpPr>
          <p:nvPr/>
        </p:nvCxnSpPr>
        <p:spPr>
          <a:xfrm flipV="1">
            <a:off x="4779359" y="5181600"/>
            <a:ext cx="0" cy="11533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F57608A7-C782-263F-3A6D-1FE6D27CECDB}"/>
              </a:ext>
            </a:extLst>
          </p:cNvPr>
          <p:cNvCxnSpPr>
            <a:cxnSpLocks/>
            <a:stCxn id="58" idx="7"/>
          </p:cNvCxnSpPr>
          <p:nvPr/>
        </p:nvCxnSpPr>
        <p:spPr>
          <a:xfrm flipV="1">
            <a:off x="4817543" y="5250742"/>
            <a:ext cx="559766" cy="10999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14042D60-4E38-58C0-66A7-E399C5D70607}"/>
              </a:ext>
            </a:extLst>
          </p:cNvPr>
          <p:cNvSpPr txBox="1"/>
          <p:nvPr/>
        </p:nvSpPr>
        <p:spPr>
          <a:xfrm>
            <a:off x="6893886" y="6334900"/>
            <a:ext cx="292068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34B82513-8FED-9CF8-4245-E78C968F9D4D}"/>
              </a:ext>
            </a:extLst>
          </p:cNvPr>
          <p:cNvSpPr txBox="1"/>
          <p:nvPr/>
        </p:nvSpPr>
        <p:spPr>
          <a:xfrm>
            <a:off x="4508158" y="5206538"/>
            <a:ext cx="28886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z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FAACE1C0-55FB-1B69-BC5A-C20C825D6D63}"/>
              </a:ext>
            </a:extLst>
          </p:cNvPr>
          <p:cNvSpPr txBox="1"/>
          <p:nvPr/>
        </p:nvSpPr>
        <p:spPr>
          <a:xfrm>
            <a:off x="5028475" y="5206537"/>
            <a:ext cx="293670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67D26DCE-0CA1-590A-2321-711DAA46347F}"/>
              </a:ext>
            </a:extLst>
          </p:cNvPr>
          <p:cNvSpPr/>
          <p:nvPr/>
        </p:nvSpPr>
        <p:spPr>
          <a:xfrm>
            <a:off x="4523418" y="6366050"/>
            <a:ext cx="172660" cy="270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4FCEB172-EA8A-2523-6D10-EA71B249FB4D}"/>
              </a:ext>
            </a:extLst>
          </p:cNvPr>
          <p:cNvSpPr txBox="1"/>
          <p:nvPr/>
        </p:nvSpPr>
        <p:spPr>
          <a:xfrm>
            <a:off x="4437062" y="6305975"/>
            <a:ext cx="3209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1" name="図 70">
            <a:extLst>
              <a:ext uri="{FF2B5EF4-FFF2-40B4-BE49-F238E27FC236}">
                <a16:creationId xmlns:a16="http://schemas.microsoft.com/office/drawing/2014/main" id="{F8539B49-36CA-316F-DCDA-BC2C8536C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693173" y="5194157"/>
            <a:ext cx="1624303" cy="1423061"/>
          </a:xfrm>
          <a:prstGeom prst="rect">
            <a:avLst/>
          </a:prstGeom>
        </p:spPr>
      </p:pic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900E131B-A93B-CA06-C80C-5826A2E37043}"/>
              </a:ext>
            </a:extLst>
          </p:cNvPr>
          <p:cNvSpPr txBox="1"/>
          <p:nvPr/>
        </p:nvSpPr>
        <p:spPr>
          <a:xfrm>
            <a:off x="6543771" y="5602213"/>
            <a:ext cx="793807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4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x,y,z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73854355-8AA7-F777-3183-77C7244A9E02}"/>
              </a:ext>
            </a:extLst>
          </p:cNvPr>
          <p:cNvCxnSpPr>
            <a:cxnSpLocks/>
          </p:cNvCxnSpPr>
          <p:nvPr/>
        </p:nvCxnSpPr>
        <p:spPr>
          <a:xfrm>
            <a:off x="3037510" y="6219972"/>
            <a:ext cx="81615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13D63316-4A35-A8A9-124F-7A72F3A44BCE}"/>
              </a:ext>
            </a:extLst>
          </p:cNvPr>
          <p:cNvCxnSpPr>
            <a:cxnSpLocks/>
          </p:cNvCxnSpPr>
          <p:nvPr/>
        </p:nvCxnSpPr>
        <p:spPr>
          <a:xfrm flipH="1" flipV="1">
            <a:off x="3027474" y="5149997"/>
            <a:ext cx="4808" cy="1070153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EB6E9C6-AFC9-DA11-6B72-BF8805F01185}"/>
              </a:ext>
            </a:extLst>
          </p:cNvPr>
          <p:cNvSpPr txBox="1"/>
          <p:nvPr/>
        </p:nvSpPr>
        <p:spPr>
          <a:xfrm>
            <a:off x="3547645" y="6178641"/>
            <a:ext cx="293670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32E49538-947D-47DD-758E-33ABB2353F88}"/>
              </a:ext>
            </a:extLst>
          </p:cNvPr>
          <p:cNvSpPr txBox="1"/>
          <p:nvPr/>
        </p:nvSpPr>
        <p:spPr>
          <a:xfrm>
            <a:off x="2783062" y="5160063"/>
            <a:ext cx="28886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z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9" name="図 88">
            <a:extLst>
              <a:ext uri="{FF2B5EF4-FFF2-40B4-BE49-F238E27FC236}">
                <a16:creationId xmlns:a16="http://schemas.microsoft.com/office/drawing/2014/main" id="{C919191F-5355-E23D-01A7-3D0FEBB41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518" y="5474452"/>
            <a:ext cx="590766" cy="1046797"/>
          </a:xfrm>
          <a:prstGeom prst="rect">
            <a:avLst/>
          </a:prstGeom>
        </p:spPr>
      </p:pic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58F1C8DA-5E85-CC89-0520-6832793318FB}"/>
              </a:ext>
            </a:extLst>
          </p:cNvPr>
          <p:cNvCxnSpPr>
            <a:cxnSpLocks/>
          </p:cNvCxnSpPr>
          <p:nvPr/>
        </p:nvCxnSpPr>
        <p:spPr>
          <a:xfrm>
            <a:off x="1732113" y="6219972"/>
            <a:ext cx="733618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楕円 35">
            <a:extLst>
              <a:ext uri="{FF2B5EF4-FFF2-40B4-BE49-F238E27FC236}">
                <a16:creationId xmlns:a16="http://schemas.microsoft.com/office/drawing/2014/main" id="{3F6BD0C1-0E4D-3821-B11F-2D08E1F74470}"/>
              </a:ext>
            </a:extLst>
          </p:cNvPr>
          <p:cNvSpPr/>
          <p:nvPr/>
        </p:nvSpPr>
        <p:spPr>
          <a:xfrm>
            <a:off x="1631901" y="6165972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5D9CCC16-EDB1-03B1-A28A-4F027EBC4447}"/>
              </a:ext>
            </a:extLst>
          </p:cNvPr>
          <p:cNvCxnSpPr>
            <a:cxnSpLocks/>
          </p:cNvCxnSpPr>
          <p:nvPr/>
        </p:nvCxnSpPr>
        <p:spPr>
          <a:xfrm flipV="1">
            <a:off x="1685901" y="5160063"/>
            <a:ext cx="0" cy="10059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FC88B6F5-3F6E-A87E-95A4-EA2C9CCDFF38}"/>
              </a:ext>
            </a:extLst>
          </p:cNvPr>
          <p:cNvCxnSpPr>
            <a:cxnSpLocks/>
            <a:stCxn id="36" idx="7"/>
          </p:cNvCxnSpPr>
          <p:nvPr/>
        </p:nvCxnSpPr>
        <p:spPr>
          <a:xfrm flipV="1">
            <a:off x="1724085" y="5610055"/>
            <a:ext cx="581308" cy="571733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0F5C797-5E93-696F-ACE6-3264B8C25654}"/>
              </a:ext>
            </a:extLst>
          </p:cNvPr>
          <p:cNvSpPr txBox="1"/>
          <p:nvPr/>
        </p:nvSpPr>
        <p:spPr>
          <a:xfrm>
            <a:off x="2145306" y="6178641"/>
            <a:ext cx="292068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AD9B4B57-ABFA-17B5-D1C6-7CB4203CAEB3}"/>
              </a:ext>
            </a:extLst>
          </p:cNvPr>
          <p:cNvSpPr txBox="1"/>
          <p:nvPr/>
        </p:nvSpPr>
        <p:spPr>
          <a:xfrm>
            <a:off x="1424229" y="5160063"/>
            <a:ext cx="293670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C98808C-E989-5994-B42C-5E2CA448338A}"/>
              </a:ext>
            </a:extLst>
          </p:cNvPr>
          <p:cNvSpPr txBox="1"/>
          <p:nvPr/>
        </p:nvSpPr>
        <p:spPr>
          <a:xfrm>
            <a:off x="2148512" y="5654669"/>
            <a:ext cx="28886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z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75F689FB-D68E-8A1B-ED6D-A8ED7AAB7A10}"/>
              </a:ext>
            </a:extLst>
          </p:cNvPr>
          <p:cNvSpPr txBox="1"/>
          <p:nvPr/>
        </p:nvSpPr>
        <p:spPr>
          <a:xfrm>
            <a:off x="1386418" y="6132885"/>
            <a:ext cx="3209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92" name="図 91">
            <a:extLst>
              <a:ext uri="{FF2B5EF4-FFF2-40B4-BE49-F238E27FC236}">
                <a16:creationId xmlns:a16="http://schemas.microsoft.com/office/drawing/2014/main" id="{4D6E92B7-BCF5-AEBA-C26A-98151BA33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917" y="5315061"/>
            <a:ext cx="460383" cy="815767"/>
          </a:xfrm>
          <a:prstGeom prst="rect">
            <a:avLst/>
          </a:prstGeom>
        </p:spPr>
      </p:pic>
      <p:sp>
        <p:nvSpPr>
          <p:cNvPr id="72" name="楕円 71">
            <a:extLst>
              <a:ext uri="{FF2B5EF4-FFF2-40B4-BE49-F238E27FC236}">
                <a16:creationId xmlns:a16="http://schemas.microsoft.com/office/drawing/2014/main" id="{68CA33D8-C747-4627-2483-18C195DBB79F}"/>
              </a:ext>
            </a:extLst>
          </p:cNvPr>
          <p:cNvSpPr/>
          <p:nvPr/>
        </p:nvSpPr>
        <p:spPr>
          <a:xfrm>
            <a:off x="6137925" y="5841921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9F1DE684-96C0-6641-DC23-DD562509BE42}"/>
              </a:ext>
            </a:extLst>
          </p:cNvPr>
          <p:cNvCxnSpPr>
            <a:cxnSpLocks/>
            <a:stCxn id="72" idx="6"/>
          </p:cNvCxnSpPr>
          <p:nvPr/>
        </p:nvCxnSpPr>
        <p:spPr>
          <a:xfrm flipV="1">
            <a:off x="6245925" y="5819912"/>
            <a:ext cx="320338" cy="760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68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C38CD-867A-02A3-75B5-9EF1592B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C60EE5-5F38-7E54-21E9-38911DCB1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周辺認識機能の全体像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0D926E8-7816-5CCF-0504-586C60C2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485C0A-A0F1-CC88-2E8F-95FF45450B30}"/>
              </a:ext>
            </a:extLst>
          </p:cNvPr>
          <p:cNvSpPr txBox="1"/>
          <p:nvPr/>
        </p:nvSpPr>
        <p:spPr>
          <a:xfrm>
            <a:off x="0" y="469100"/>
            <a:ext cx="1217371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 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学習ベース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2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1600" b="1" dirty="0" err="1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Autoware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5A791B9-5D20-DD67-C355-28EADA8CF3FA}"/>
              </a:ext>
            </a:extLst>
          </p:cNvPr>
          <p:cNvSpPr/>
          <p:nvPr/>
        </p:nvSpPr>
        <p:spPr>
          <a:xfrm>
            <a:off x="1888459" y="1286192"/>
            <a:ext cx="180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endParaRPr kumimoji="1"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F27AF8E-801C-6F5B-0D41-183FC2264437}"/>
              </a:ext>
            </a:extLst>
          </p:cNvPr>
          <p:cNvSpPr/>
          <p:nvPr/>
        </p:nvSpPr>
        <p:spPr>
          <a:xfrm>
            <a:off x="6566263" y="1286192"/>
            <a:ext cx="1800000" cy="719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11BB6476-6BD0-6D60-3775-00DCFC17A31F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8366263" y="1646191"/>
            <a:ext cx="34073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C6A62E5-2E31-8427-ECDC-19025F4E539C}"/>
              </a:ext>
            </a:extLst>
          </p:cNvPr>
          <p:cNvCxnSpPr>
            <a:cxnSpLocks/>
          </p:cNvCxnSpPr>
          <p:nvPr/>
        </p:nvCxnSpPr>
        <p:spPr>
          <a:xfrm>
            <a:off x="77077" y="1469809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CAC0250-CE34-78ED-39AC-2DF837BF5494}"/>
              </a:ext>
            </a:extLst>
          </p:cNvPr>
          <p:cNvSpPr txBox="1"/>
          <p:nvPr/>
        </p:nvSpPr>
        <p:spPr>
          <a:xfrm>
            <a:off x="22242" y="1173447"/>
            <a:ext cx="15488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時刻同期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×8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40B49D3A-B4B1-5189-7E5C-3D0332E08E98}"/>
              </a:ext>
            </a:extLst>
          </p:cNvPr>
          <p:cNvCxnSpPr>
            <a:cxnSpLocks/>
          </p:cNvCxnSpPr>
          <p:nvPr/>
        </p:nvCxnSpPr>
        <p:spPr>
          <a:xfrm>
            <a:off x="77077" y="1840033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46EBFA9-92E3-36CB-C1C0-36AE6C391A20}"/>
              </a:ext>
            </a:extLst>
          </p:cNvPr>
          <p:cNvSpPr txBox="1"/>
          <p:nvPr/>
        </p:nvSpPr>
        <p:spPr>
          <a:xfrm>
            <a:off x="22242" y="1546089"/>
            <a:ext cx="1261884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自車移動情報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4C66DC66-A171-0834-8191-02549B8C4A44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688459" y="1646192"/>
            <a:ext cx="28778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5B5E9C6-40D2-FBF9-B73F-C8D9B76E653B}"/>
              </a:ext>
            </a:extLst>
          </p:cNvPr>
          <p:cNvSpPr txBox="1"/>
          <p:nvPr/>
        </p:nvSpPr>
        <p:spPr>
          <a:xfrm>
            <a:off x="3695956" y="1055563"/>
            <a:ext cx="2279791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B33BB8F-40E9-8A1A-2405-0433D5F41DFD}"/>
              </a:ext>
            </a:extLst>
          </p:cNvPr>
          <p:cNvSpPr txBox="1"/>
          <p:nvPr/>
        </p:nvSpPr>
        <p:spPr>
          <a:xfrm>
            <a:off x="3688459" y="2135059"/>
            <a:ext cx="245451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 →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0156EA-EE44-AA07-D492-62C800F56D74}"/>
              </a:ext>
            </a:extLst>
          </p:cNvPr>
          <p:cNvSpPr txBox="1"/>
          <p:nvPr/>
        </p:nvSpPr>
        <p:spPr>
          <a:xfrm>
            <a:off x="8377645" y="1105767"/>
            <a:ext cx="2728632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EB191E7A-C4AC-F338-37DA-79A553E61241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695956" y="2006189"/>
            <a:ext cx="3770307" cy="652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39DBA6A-D4D9-5FF2-352A-72215C3A416D}"/>
              </a:ext>
            </a:extLst>
          </p:cNvPr>
          <p:cNvSpPr txBox="1"/>
          <p:nvPr/>
        </p:nvSpPr>
        <p:spPr>
          <a:xfrm>
            <a:off x="0" y="2896329"/>
            <a:ext cx="2954655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物標追跡機能の処理概要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01BF1C8-4B28-116A-17CB-541F7A9DE264}"/>
              </a:ext>
            </a:extLst>
          </p:cNvPr>
          <p:cNvSpPr/>
          <p:nvPr/>
        </p:nvSpPr>
        <p:spPr>
          <a:xfrm>
            <a:off x="77078" y="1134046"/>
            <a:ext cx="3618878" cy="882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986C9C68-2A4E-F077-6784-B6D553D6933D}"/>
              </a:ext>
            </a:extLst>
          </p:cNvPr>
          <p:cNvSpPr/>
          <p:nvPr/>
        </p:nvSpPr>
        <p:spPr>
          <a:xfrm>
            <a:off x="3695956" y="930766"/>
            <a:ext cx="8153144" cy="18695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82E712B-B178-ED53-F714-27E7B69D6591}"/>
              </a:ext>
            </a:extLst>
          </p:cNvPr>
          <p:cNvSpPr/>
          <p:nvPr/>
        </p:nvSpPr>
        <p:spPr>
          <a:xfrm>
            <a:off x="5466702" y="4297408"/>
            <a:ext cx="135255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次回報告</a:t>
            </a:r>
          </a:p>
        </p:txBody>
      </p:sp>
    </p:spTree>
    <p:extLst>
      <p:ext uri="{BB962C8B-B14F-4D97-AF65-F5344CB8AC3E}">
        <p14:creationId xmlns:p14="http://schemas.microsoft.com/office/powerpoint/2010/main" val="3759369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3E665-ED3B-483B-C680-BE64E5437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C47E6B-CA36-0911-F514-3AE86AD6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9D7D2D8-09B6-7608-0B77-AD936DDA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974BAE-CDBE-F1BA-A81C-A223C734DE84}"/>
              </a:ext>
            </a:extLst>
          </p:cNvPr>
          <p:cNvSpPr txBox="1"/>
          <p:nvPr/>
        </p:nvSpPr>
        <p:spPr>
          <a:xfrm>
            <a:off x="0" y="591917"/>
            <a:ext cx="5229317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周辺認識処理の全体概要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49BC40-C052-B3CE-10C3-891C05385DA7}"/>
              </a:ext>
            </a:extLst>
          </p:cNvPr>
          <p:cNvSpPr txBox="1"/>
          <p:nvPr/>
        </p:nvSpPr>
        <p:spPr>
          <a:xfrm>
            <a:off x="0" y="4130811"/>
            <a:ext cx="3642344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今後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の検討事項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E03443EC-8D22-DFBB-760D-D09F3122B93C}"/>
              </a:ext>
            </a:extLst>
          </p:cNvPr>
          <p:cNvGrpSpPr/>
          <p:nvPr/>
        </p:nvGrpSpPr>
        <p:grpSpPr>
          <a:xfrm>
            <a:off x="0" y="1768541"/>
            <a:ext cx="6218346" cy="1780361"/>
            <a:chOff x="0" y="2594560"/>
            <a:chExt cx="6218346" cy="1780361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1093FB14-D2E9-A86C-2305-0E09A3569DC3}"/>
                </a:ext>
              </a:extLst>
            </p:cNvPr>
            <p:cNvSpPr txBox="1"/>
            <p:nvPr/>
          </p:nvSpPr>
          <p:spPr>
            <a:xfrm>
              <a:off x="0" y="2594560"/>
              <a:ext cx="3642344" cy="594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 </a:t>
              </a:r>
              <a:r>
                <a:rPr kumimoji="1"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</a:t>
              </a:r>
              <a:r>
                <a:rPr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の検討事項</a:t>
              </a:r>
              <a:endPara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C77A9EA-3AB6-016B-93BC-7EA0D31BEDA1}"/>
                </a:ext>
              </a:extLst>
            </p:cNvPr>
            <p:cNvSpPr txBox="1"/>
            <p:nvPr/>
          </p:nvSpPr>
          <p:spPr>
            <a:xfrm>
              <a:off x="597897" y="3189275"/>
              <a:ext cx="5620449" cy="11856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2-1. </a:t>
              </a:r>
              <a:r>
                <a:rPr kumimoji="1"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</a:t>
              </a:r>
              <a:r>
                <a:rPr kumimoji="1"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の機能配置</a:t>
              </a:r>
              <a:endParaRPr kumimoji="1"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2-2.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6387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399C-B715-858D-37DD-679AEDED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79C7E8-1A35-E34F-73FA-036E1FB4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b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599F907-3A46-9778-CBA2-82C56607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9</a:t>
            </a:fld>
            <a:endParaRPr kumimoji="1" lang="ja-JP" altLang="en-US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850EFC34-7E87-6DB7-5F6E-465731A7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3053"/>
              </p:ext>
            </p:extLst>
          </p:nvPr>
        </p:nvGraphicFramePr>
        <p:xfrm>
          <a:off x="90148" y="1061660"/>
          <a:ext cx="12011704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②画像の前処理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②前処理後の画像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or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自己位置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①前処理後の画像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3DA89E0-D011-6B3B-9A58-291BD1D1C539}"/>
              </a:ext>
            </a:extLst>
          </p:cNvPr>
          <p:cNvSpPr txBox="1"/>
          <p:nvPr/>
        </p:nvSpPr>
        <p:spPr>
          <a:xfrm>
            <a:off x="0" y="469100"/>
            <a:ext cx="435087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の制約</a:t>
            </a:r>
            <a:r>
              <a:rPr lang="en-US" altLang="ja-JP" sz="2400" b="1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処理負荷</a:t>
            </a:r>
            <a:r>
              <a:rPr lang="ja-JP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を考慮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15294DE-0DA9-11E4-2282-9D318CDCC84E}"/>
              </a:ext>
            </a:extLst>
          </p:cNvPr>
          <p:cNvSpPr txBox="1"/>
          <p:nvPr/>
        </p:nvSpPr>
        <p:spPr>
          <a:xfrm>
            <a:off x="6049754" y="783875"/>
            <a:ext cx="615059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はデシリアライザの制約により、C2カメラの同時入力が最大4台に制限される</a:t>
            </a:r>
          </a:p>
        </p:txBody>
      </p:sp>
    </p:spTree>
    <p:extLst>
      <p:ext uri="{BB962C8B-B14F-4D97-AF65-F5344CB8AC3E}">
        <p14:creationId xmlns:p14="http://schemas.microsoft.com/office/powerpoint/2010/main" val="1758072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B89A2-A3A6-2D9D-9F91-2132A595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3174CA-47FE-A02C-4018-F15DDC836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8A79F17-C446-56B1-236D-BDFA6E2B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10</a:t>
            </a:fld>
            <a:endParaRPr kumimoji="1" lang="ja-JP" altLang="en-US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A316C44E-1B30-0135-FA3C-DC25CFE8F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864174"/>
              </p:ext>
            </p:extLst>
          </p:nvPr>
        </p:nvGraphicFramePr>
        <p:xfrm>
          <a:off x="90148" y="1061660"/>
          <a:ext cx="12011704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　</a:t>
                      </a:r>
                      <a:endParaRPr kumimoji="1" lang="en-US" altLang="ja-JP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2000" b="0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　 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  <a:endParaRPr kumimoji="1" lang="en-US" altLang="ja-JP" sz="20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③前処理後画像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A31233-C9A9-13A4-E27E-6ADB1BBE0C64}"/>
              </a:ext>
            </a:extLst>
          </p:cNvPr>
          <p:cNvSpPr txBox="1"/>
          <p:nvPr/>
        </p:nvSpPr>
        <p:spPr>
          <a:xfrm>
            <a:off x="0" y="469100"/>
            <a:ext cx="43348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の制約</a:t>
            </a:r>
            <a:r>
              <a:rPr lang="en-US" altLang="ja-JP" sz="24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処理負荷</a:t>
            </a:r>
            <a:r>
              <a:rPr lang="ja-JP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を考慮</a:t>
            </a:r>
            <a:endParaRPr kumimoji="1" lang="ja-JP" altLang="en-US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1E41826-4FA2-E536-DEBF-CE2BC8F57AD6}"/>
              </a:ext>
            </a:extLst>
          </p:cNvPr>
          <p:cNvSpPr txBox="1"/>
          <p:nvPr/>
        </p:nvSpPr>
        <p:spPr>
          <a:xfrm>
            <a:off x="6049754" y="783875"/>
            <a:ext cx="615059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はデシリアライザの制約により、C2カメラの同時入力が最大4台に制限される</a:t>
            </a:r>
          </a:p>
        </p:txBody>
      </p:sp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3DC92981-788B-34BF-9F00-1E5271E64787}"/>
              </a:ext>
            </a:extLst>
          </p:cNvPr>
          <p:cNvSpPr/>
          <p:nvPr/>
        </p:nvSpPr>
        <p:spPr>
          <a:xfrm rot="10800000">
            <a:off x="4598125" y="4449296"/>
            <a:ext cx="2995750" cy="37484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1092471-ED8C-CDAB-9D36-05C1107794F8}"/>
              </a:ext>
            </a:extLst>
          </p:cNvPr>
          <p:cNvGrpSpPr/>
          <p:nvPr/>
        </p:nvGrpSpPr>
        <p:grpSpPr>
          <a:xfrm>
            <a:off x="3503782" y="5041856"/>
            <a:ext cx="5593198" cy="1185122"/>
            <a:chOff x="4786375" y="4926145"/>
            <a:chExt cx="5593198" cy="1185122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B4D5B78A-A734-A1D3-D044-EF438787CFB6}"/>
                </a:ext>
              </a:extLst>
            </p:cNvPr>
            <p:cNvSpPr txBox="1"/>
            <p:nvPr/>
          </p:nvSpPr>
          <p:spPr>
            <a:xfrm>
              <a:off x="4786375" y="5324577"/>
              <a:ext cx="5593198" cy="786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1. </a:t>
              </a:r>
              <a:r>
                <a:rPr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</a:t>
              </a:r>
              <a:r>
                <a:rPr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の機能配置</a:t>
              </a:r>
              <a:endPara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>
                <a:lnSpc>
                  <a:spcPct val="120000"/>
                </a:lnSpc>
              </a:pPr>
              <a:r>
                <a:rPr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　　　→次回、入出力情報を検討</a:t>
              </a:r>
              <a:r>
                <a:rPr lang="en-US" altLang="ja-JP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(</a:t>
              </a:r>
              <a:r>
                <a:rPr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機器接続構成への影響なし</a:t>
              </a:r>
              <a:r>
                <a:rPr lang="en-US" altLang="ja-JP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)</a:t>
              </a:r>
              <a:endPara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8C244A4F-A42D-F183-2638-6A802603FF04}"/>
                </a:ext>
              </a:extLst>
            </p:cNvPr>
            <p:cNvSpPr txBox="1"/>
            <p:nvPr/>
          </p:nvSpPr>
          <p:spPr>
            <a:xfrm>
              <a:off x="4786375" y="4926145"/>
              <a:ext cx="2031325" cy="37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【</a:t>
              </a:r>
              <a:r>
                <a:rPr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今回の検討事項</a:t>
              </a: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】</a:t>
              </a:r>
              <a:endPara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5519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A647B-67BA-4595-4B31-0C1A57BC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5D196-7EDB-264C-AEE7-68499D02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48DED2-3482-2C2B-7D31-C51A542DF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11</a:t>
            </a:fld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F7C84A8-F90A-EA10-D8EC-BE1C15A7A582}"/>
              </a:ext>
            </a:extLst>
          </p:cNvPr>
          <p:cNvCxnSpPr>
            <a:cxnSpLocks/>
          </p:cNvCxnSpPr>
          <p:nvPr/>
        </p:nvCxnSpPr>
        <p:spPr>
          <a:xfrm>
            <a:off x="90147" y="6479182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5809988-FB28-AC64-7AED-EA1A56AD449C}"/>
              </a:ext>
            </a:extLst>
          </p:cNvPr>
          <p:cNvCxnSpPr>
            <a:cxnSpLocks/>
          </p:cNvCxnSpPr>
          <p:nvPr/>
        </p:nvCxnSpPr>
        <p:spPr>
          <a:xfrm>
            <a:off x="90147" y="6578461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534C9FA-766E-BDEA-D27A-DBB0DEA21A9C}"/>
              </a:ext>
            </a:extLst>
          </p:cNvPr>
          <p:cNvSpPr txBox="1"/>
          <p:nvPr/>
        </p:nvSpPr>
        <p:spPr>
          <a:xfrm>
            <a:off x="173932" y="6571184"/>
            <a:ext cx="91242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制御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Bus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52EA7BA2-AE37-7673-0093-1EC7D1A2E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089178"/>
              </p:ext>
            </p:extLst>
          </p:nvPr>
        </p:nvGraphicFramePr>
        <p:xfrm>
          <a:off x="90147" y="563624"/>
          <a:ext cx="12011704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(CAN/GNSS/IMU?)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③前処理後画像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29980F6-E0C8-06AE-3DA9-6F22F9BBEFE1}"/>
              </a:ext>
            </a:extLst>
          </p:cNvPr>
          <p:cNvSpPr/>
          <p:nvPr/>
        </p:nvSpPr>
        <p:spPr>
          <a:xfrm>
            <a:off x="90147" y="3506421"/>
            <a:ext cx="414949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AUTERA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6810C30-86DB-EB22-10A3-C6B9C77DD048}"/>
              </a:ext>
            </a:extLst>
          </p:cNvPr>
          <p:cNvSpPr/>
          <p:nvPr/>
        </p:nvSpPr>
        <p:spPr>
          <a:xfrm>
            <a:off x="10061833" y="3506421"/>
            <a:ext cx="414949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ハブ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2A6F8D4-A114-23EA-1CF8-A94F4CC33FCF}"/>
              </a:ext>
            </a:extLst>
          </p:cNvPr>
          <p:cNvSpPr/>
          <p:nvPr/>
        </p:nvSpPr>
        <p:spPr>
          <a:xfrm>
            <a:off x="2028863" y="3644138"/>
            <a:ext cx="6290500" cy="233756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CF15F2B-90A9-2C79-8CF8-0BD0B10E9467}"/>
              </a:ext>
            </a:extLst>
          </p:cNvPr>
          <p:cNvSpPr txBox="1"/>
          <p:nvPr/>
        </p:nvSpPr>
        <p:spPr>
          <a:xfrm>
            <a:off x="4481841" y="3517167"/>
            <a:ext cx="1186543" cy="312073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ECU-A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260D507-349A-5FEF-57B6-5CF198A10D5F}"/>
              </a:ext>
            </a:extLst>
          </p:cNvPr>
          <p:cNvSpPr txBox="1"/>
          <p:nvPr/>
        </p:nvSpPr>
        <p:spPr>
          <a:xfrm>
            <a:off x="464453" y="4459219"/>
            <a:ext cx="1361270" cy="50231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①画像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×4</a:t>
            </a:r>
          </a:p>
          <a:p>
            <a:pPr algn="l">
              <a:lnSpc>
                <a:spcPct val="120000"/>
              </a:lnSpc>
            </a:pP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(YUV422</a:t>
            </a:r>
            <a:r>
              <a:rPr lang="en-US" altLang="ja-JP" sz="12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※1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38E8D89-C371-7632-486F-ABB986961836}"/>
              </a:ext>
            </a:extLst>
          </p:cNvPr>
          <p:cNvSpPr txBox="1"/>
          <p:nvPr/>
        </p:nvSpPr>
        <p:spPr>
          <a:xfrm>
            <a:off x="8268711" y="4459219"/>
            <a:ext cx="1843774" cy="50231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①前処理後の画像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×4</a:t>
            </a:r>
            <a:r>
              <a:rPr lang="en-US" altLang="ja-JP" sz="12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※2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 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(YUV422)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2523E77C-04FA-6E62-8390-1D2B1884323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05096" y="4946421"/>
            <a:ext cx="17237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3578C45A-028B-7610-F061-A88DD6CDF6E7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8218059" y="4946421"/>
            <a:ext cx="18437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C451B5-EBB9-D917-B471-78163B5310C1}"/>
              </a:ext>
            </a:extLst>
          </p:cNvPr>
          <p:cNvSpPr txBox="1"/>
          <p:nvPr/>
        </p:nvSpPr>
        <p:spPr>
          <a:xfrm>
            <a:off x="1867116" y="6399210"/>
            <a:ext cx="845776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※1 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輝度（Y）は各画素で1Byte、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色差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U・V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はそれぞれ2画素で1Byteを共有するため、1画素あたり2Byte</a:t>
            </a:r>
          </a:p>
          <a:p>
            <a:pPr>
              <a:lnSpc>
                <a:spcPct val="100000"/>
              </a:lnSpc>
            </a:pP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※2 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640×1024のYUV422画像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4（約5.24MB）を1Gbps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(125MB/s)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で送信する場合、約42ms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理論値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必要。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C8CF2F4-18A6-9233-8F87-8BDCFFFB4822}"/>
              </a:ext>
            </a:extLst>
          </p:cNvPr>
          <p:cNvSpPr/>
          <p:nvPr/>
        </p:nvSpPr>
        <p:spPr>
          <a:xfrm>
            <a:off x="2228850" y="4381500"/>
            <a:ext cx="2252991" cy="1247762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×4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93E1274-6798-3D3D-A9E1-A337AA361DDD}"/>
              </a:ext>
            </a:extLst>
          </p:cNvPr>
          <p:cNvSpPr txBox="1"/>
          <p:nvPr/>
        </p:nvSpPr>
        <p:spPr>
          <a:xfrm>
            <a:off x="2326859" y="4156017"/>
            <a:ext cx="2056973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CC2AAD9-E029-6EFE-BC45-5E6FBF58AC43}"/>
              </a:ext>
            </a:extLst>
          </p:cNvPr>
          <p:cNvCxnSpPr>
            <a:cxnSpLocks/>
          </p:cNvCxnSpPr>
          <p:nvPr/>
        </p:nvCxnSpPr>
        <p:spPr>
          <a:xfrm>
            <a:off x="4481841" y="4958343"/>
            <a:ext cx="11865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FF4C346-B955-2F4B-B255-C1A820A07D99}"/>
              </a:ext>
            </a:extLst>
          </p:cNvPr>
          <p:cNvSpPr txBox="1"/>
          <p:nvPr/>
        </p:nvSpPr>
        <p:spPr>
          <a:xfrm>
            <a:off x="4475727" y="4680818"/>
            <a:ext cx="960519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2686461-8DAE-D888-722C-5EA7D163B4C4}"/>
              </a:ext>
            </a:extLst>
          </p:cNvPr>
          <p:cNvSpPr/>
          <p:nvPr/>
        </p:nvSpPr>
        <p:spPr>
          <a:xfrm>
            <a:off x="5677992" y="4390569"/>
            <a:ext cx="2540067" cy="1247762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Resize/crop</a:t>
            </a:r>
          </a:p>
          <a:p>
            <a:pPr algn="ctr"/>
            <a:r>
              <a:rPr lang="ja-JP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出力画像：640×1024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7BBBE81-C8B5-4B62-03D8-8EC8A66EFA69}"/>
              </a:ext>
            </a:extLst>
          </p:cNvPr>
          <p:cNvSpPr txBox="1"/>
          <p:nvPr/>
        </p:nvSpPr>
        <p:spPr>
          <a:xfrm>
            <a:off x="5778474" y="4156017"/>
            <a:ext cx="2339102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②画像の前処理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7EA8BD8-9411-2978-CF31-B254252A2CB7}"/>
              </a:ext>
            </a:extLst>
          </p:cNvPr>
          <p:cNvSpPr/>
          <p:nvPr/>
        </p:nvSpPr>
        <p:spPr>
          <a:xfrm>
            <a:off x="804429" y="563449"/>
            <a:ext cx="3763147" cy="2799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1049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24094-8619-C7EA-5FB8-0B15B9077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ECA6FB-3061-3354-2BDD-C6629A297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C021A85-CE55-2109-43B9-641E012E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12</a:t>
            </a:fld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860A2A3-986B-AB84-AB7B-CDAAA180A069}"/>
              </a:ext>
            </a:extLst>
          </p:cNvPr>
          <p:cNvCxnSpPr>
            <a:cxnSpLocks/>
          </p:cNvCxnSpPr>
          <p:nvPr/>
        </p:nvCxnSpPr>
        <p:spPr>
          <a:xfrm>
            <a:off x="90147" y="6479182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19F60D5-8083-4FFA-298D-E0F48C30D257}"/>
              </a:ext>
            </a:extLst>
          </p:cNvPr>
          <p:cNvCxnSpPr>
            <a:cxnSpLocks/>
          </p:cNvCxnSpPr>
          <p:nvPr/>
        </p:nvCxnSpPr>
        <p:spPr>
          <a:xfrm>
            <a:off x="90147" y="6578461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E96144C-9D4E-D4E6-91DD-37B22DE040A5}"/>
              </a:ext>
            </a:extLst>
          </p:cNvPr>
          <p:cNvSpPr txBox="1"/>
          <p:nvPr/>
        </p:nvSpPr>
        <p:spPr>
          <a:xfrm>
            <a:off x="173932" y="6571184"/>
            <a:ext cx="91242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制御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Bus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FF12924C-BA4B-0603-0BB2-68E6ED16C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905219"/>
              </p:ext>
            </p:extLst>
          </p:nvPr>
        </p:nvGraphicFramePr>
        <p:xfrm>
          <a:off x="90147" y="563624"/>
          <a:ext cx="12011704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(CAN/GNSS/IMU?)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③前処理後画像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EC05D84-3D7D-6BBD-4D03-16283C8D2231}"/>
              </a:ext>
            </a:extLst>
          </p:cNvPr>
          <p:cNvSpPr/>
          <p:nvPr/>
        </p:nvSpPr>
        <p:spPr>
          <a:xfrm>
            <a:off x="90147" y="3506421"/>
            <a:ext cx="414949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AUTERA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5F348D6-7C49-7F77-0720-40F90351D6E8}"/>
              </a:ext>
            </a:extLst>
          </p:cNvPr>
          <p:cNvSpPr/>
          <p:nvPr/>
        </p:nvSpPr>
        <p:spPr>
          <a:xfrm>
            <a:off x="10061833" y="3506421"/>
            <a:ext cx="414949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ハブ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33B9B39-20B0-0B1F-771B-1C4CD5E66E40}"/>
              </a:ext>
            </a:extLst>
          </p:cNvPr>
          <p:cNvSpPr/>
          <p:nvPr/>
        </p:nvSpPr>
        <p:spPr>
          <a:xfrm>
            <a:off x="2028863" y="3644139"/>
            <a:ext cx="6672440" cy="265023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AD3A32A-218A-6CFF-2AE9-81E12C44B1DE}"/>
              </a:ext>
            </a:extLst>
          </p:cNvPr>
          <p:cNvSpPr txBox="1"/>
          <p:nvPr/>
        </p:nvSpPr>
        <p:spPr>
          <a:xfrm>
            <a:off x="4767804" y="3517167"/>
            <a:ext cx="1194558" cy="312073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ECU-C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F2DD9A2-FAAC-ACAC-2AF9-3C98DEE11B71}"/>
              </a:ext>
            </a:extLst>
          </p:cNvPr>
          <p:cNvSpPr txBox="1"/>
          <p:nvPr/>
        </p:nvSpPr>
        <p:spPr>
          <a:xfrm>
            <a:off x="766979" y="4142207"/>
            <a:ext cx="1353256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GNSS/IMU?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0828B25-EA5A-ED44-3B59-D9B827ACA22B}"/>
              </a:ext>
            </a:extLst>
          </p:cNvPr>
          <p:cNvSpPr/>
          <p:nvPr/>
        </p:nvSpPr>
        <p:spPr>
          <a:xfrm>
            <a:off x="8338704" y="563449"/>
            <a:ext cx="3763147" cy="2799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5E119CA-AAA8-FB6B-0FA5-CEDD2C4CB2FC}"/>
              </a:ext>
            </a:extLst>
          </p:cNvPr>
          <p:cNvSpPr txBox="1"/>
          <p:nvPr/>
        </p:nvSpPr>
        <p:spPr>
          <a:xfrm>
            <a:off x="8792933" y="4472920"/>
            <a:ext cx="1261884" cy="50231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①座標変換情報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CAN?</a:t>
            </a:r>
            <a:r>
              <a:rPr kumimoji="1" lang="en-US" altLang="ja-JP" sz="12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※3</a:t>
            </a:r>
            <a:endParaRPr kumimoji="1" lang="ja-JP" altLang="en-US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D40A5027-E9B9-E839-D182-C885D447B35D}"/>
              </a:ext>
            </a:extLst>
          </p:cNvPr>
          <p:cNvCxnSpPr>
            <a:cxnSpLocks/>
          </p:cNvCxnSpPr>
          <p:nvPr/>
        </p:nvCxnSpPr>
        <p:spPr>
          <a:xfrm>
            <a:off x="505096" y="4397594"/>
            <a:ext cx="17237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41A94DD-1755-5EFD-7491-906597668FC8}"/>
              </a:ext>
            </a:extLst>
          </p:cNvPr>
          <p:cNvSpPr/>
          <p:nvPr/>
        </p:nvSpPr>
        <p:spPr>
          <a:xfrm>
            <a:off x="2228850" y="4128860"/>
            <a:ext cx="2566687" cy="798512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各情報を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7663C57-9F30-A942-C62B-3F12D0A46E84}"/>
              </a:ext>
            </a:extLst>
          </p:cNvPr>
          <p:cNvSpPr txBox="1"/>
          <p:nvPr/>
        </p:nvSpPr>
        <p:spPr>
          <a:xfrm>
            <a:off x="2326858" y="3894307"/>
            <a:ext cx="2392001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  <a:r>
              <a:rPr kumimoji="1" lang="en-US" altLang="ja-JP" sz="24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※1</a:t>
            </a:r>
            <a:endParaRPr kumimoji="1" lang="ja-JP" altLang="en-US" sz="24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0BBD1D83-FF00-CC60-2836-19310D1C78A6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>
            <a:off x="4795537" y="4528116"/>
            <a:ext cx="77837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4062011-7E7E-E3E1-574A-F0E3BAC294E5}"/>
              </a:ext>
            </a:extLst>
          </p:cNvPr>
          <p:cNvSpPr txBox="1"/>
          <p:nvPr/>
        </p:nvSpPr>
        <p:spPr>
          <a:xfrm>
            <a:off x="4832438" y="4275348"/>
            <a:ext cx="659155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GNSS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26340C4-B037-C2C2-7980-406707DFD449}"/>
              </a:ext>
            </a:extLst>
          </p:cNvPr>
          <p:cNvSpPr/>
          <p:nvPr/>
        </p:nvSpPr>
        <p:spPr>
          <a:xfrm>
            <a:off x="5573909" y="4128861"/>
            <a:ext cx="2899620" cy="7985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地図座標系の自己位置を推定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F80C4D0-632B-2DEC-7EA9-937488CD8B59}"/>
              </a:ext>
            </a:extLst>
          </p:cNvPr>
          <p:cNvSpPr txBox="1"/>
          <p:nvPr/>
        </p:nvSpPr>
        <p:spPr>
          <a:xfrm>
            <a:off x="6195608" y="3930285"/>
            <a:ext cx="1656223" cy="3434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自己位置推定</a:t>
            </a:r>
            <a:r>
              <a:rPr kumimoji="1" lang="en-US" altLang="ja-JP" sz="16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※2</a:t>
            </a:r>
            <a:endParaRPr kumimoji="1" lang="ja-JP" altLang="en-US" sz="16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4F7F615D-BA46-806D-3D4E-8C5DFF4CCB0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9195" y="4861904"/>
            <a:ext cx="1764000" cy="1440000"/>
          </a:xfrm>
          <a:prstGeom prst="bentConnector3">
            <a:avLst>
              <a:gd name="adj1" fmla="val 1001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1BBA409-E8D2-8D09-1A1F-BA2CF21D5C39}"/>
              </a:ext>
            </a:extLst>
          </p:cNvPr>
          <p:cNvSpPr txBox="1"/>
          <p:nvPr/>
        </p:nvSpPr>
        <p:spPr>
          <a:xfrm>
            <a:off x="766979" y="4443360"/>
            <a:ext cx="705642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35D303A9-D96B-B7AB-87CE-DD6880767064}"/>
              </a:ext>
            </a:extLst>
          </p:cNvPr>
          <p:cNvCxnSpPr>
            <a:cxnSpLocks/>
            <a:stCxn id="20" idx="2"/>
            <a:endCxn id="46" idx="0"/>
          </p:cNvCxnSpPr>
          <p:nvPr/>
        </p:nvCxnSpPr>
        <p:spPr>
          <a:xfrm>
            <a:off x="7023719" y="4927372"/>
            <a:ext cx="1" cy="281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48B0D4FB-94C6-7F0F-65D8-39BB2E95FF6A}"/>
              </a:ext>
            </a:extLst>
          </p:cNvPr>
          <p:cNvSpPr txBox="1"/>
          <p:nvPr/>
        </p:nvSpPr>
        <p:spPr>
          <a:xfrm>
            <a:off x="7280927" y="5961447"/>
            <a:ext cx="1107996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自己位置情報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1F345DD2-955F-9B6C-3B3E-B2DFE5ABD32B}"/>
              </a:ext>
            </a:extLst>
          </p:cNvPr>
          <p:cNvSpPr/>
          <p:nvPr/>
        </p:nvSpPr>
        <p:spPr>
          <a:xfrm>
            <a:off x="5418058" y="5481290"/>
            <a:ext cx="3211322" cy="762254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自車→地図への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座標変換情報を作成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C8B253BD-DB9F-FD30-5E59-DAFE611A0504}"/>
              </a:ext>
            </a:extLst>
          </p:cNvPr>
          <p:cNvSpPr txBox="1"/>
          <p:nvPr/>
        </p:nvSpPr>
        <p:spPr>
          <a:xfrm>
            <a:off x="5546392" y="5208385"/>
            <a:ext cx="2954655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②座標変換情報作成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21869D6F-B12D-8CAE-A471-94258713A4F4}"/>
              </a:ext>
            </a:extLst>
          </p:cNvPr>
          <p:cNvSpPr txBox="1"/>
          <p:nvPr/>
        </p:nvSpPr>
        <p:spPr>
          <a:xfrm>
            <a:off x="1942629" y="6269634"/>
            <a:ext cx="6630341" cy="6340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※1 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Topic変換は図示上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機能に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集約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しているが、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実際は画像・CAN等の入力情報ごとに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個別に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構成</a:t>
            </a:r>
            <a:endParaRPr lang="en-US" altLang="ja-JP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※2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自己位置推定に使用する画像等の入力情報は図示省略</a:t>
            </a:r>
            <a:endParaRPr lang="en-US" altLang="ja-JP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kumimoji="1"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※3 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ECU-Cで処理したCAN情報をECU-Bへ送信するか、ECU-BでもCAN情報を処理するかは検討中</a:t>
            </a:r>
          </a:p>
        </p:txBody>
      </p: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90617987-1934-7F70-721C-53860763707E}"/>
              </a:ext>
            </a:extLst>
          </p:cNvPr>
          <p:cNvCxnSpPr>
            <a:stCxn id="52" idx="3"/>
            <a:endCxn id="14" idx="1"/>
          </p:cNvCxnSpPr>
          <p:nvPr/>
        </p:nvCxnSpPr>
        <p:spPr>
          <a:xfrm flipV="1">
            <a:off x="8629380" y="4946421"/>
            <a:ext cx="1432453" cy="915996"/>
          </a:xfrm>
          <a:prstGeom prst="bentConnector3">
            <a:avLst>
              <a:gd name="adj1" fmla="val 1648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9F9F394D-8D80-CECF-4C0C-5E27055562DA}"/>
              </a:ext>
            </a:extLst>
          </p:cNvPr>
          <p:cNvSpPr txBox="1"/>
          <p:nvPr/>
        </p:nvSpPr>
        <p:spPr>
          <a:xfrm>
            <a:off x="7019010" y="4913985"/>
            <a:ext cx="1107996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自己位置情報</a:t>
            </a:r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6D852DA2-654A-8D5A-D4D5-3C017383A957}"/>
              </a:ext>
            </a:extLst>
          </p:cNvPr>
          <p:cNvSpPr/>
          <p:nvPr/>
        </p:nvSpPr>
        <p:spPr>
          <a:xfrm>
            <a:off x="4845771" y="4492116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20399318-CB95-FF78-BCE1-F9B5026C78C8}"/>
              </a:ext>
            </a:extLst>
          </p:cNvPr>
          <p:cNvSpPr txBox="1"/>
          <p:nvPr/>
        </p:nvSpPr>
        <p:spPr>
          <a:xfrm>
            <a:off x="4832438" y="5589661"/>
            <a:ext cx="551754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AE5B15D6-3DC3-1146-5922-6698F43C5F98}"/>
              </a:ext>
            </a:extLst>
          </p:cNvPr>
          <p:cNvCxnSpPr>
            <a:cxnSpLocks/>
            <a:stCxn id="72" idx="4"/>
            <a:endCxn id="52" idx="1"/>
          </p:cNvCxnSpPr>
          <p:nvPr/>
        </p:nvCxnSpPr>
        <p:spPr>
          <a:xfrm rot="16200000" flipH="1">
            <a:off x="4500764" y="4945122"/>
            <a:ext cx="1298301" cy="5362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428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8016F-76DA-ED61-C133-24F9D9394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1E72AB-B72C-A108-F3EC-B09AC6924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D807435-90BF-B509-26C4-FD066861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13</a:t>
            </a:fld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C548B3F-B19E-50AB-657A-E63F455B4A85}"/>
              </a:ext>
            </a:extLst>
          </p:cNvPr>
          <p:cNvCxnSpPr>
            <a:cxnSpLocks/>
          </p:cNvCxnSpPr>
          <p:nvPr/>
        </p:nvCxnSpPr>
        <p:spPr>
          <a:xfrm>
            <a:off x="90147" y="6479182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471E126-A305-D3EC-F849-4FA13D9D90BA}"/>
              </a:ext>
            </a:extLst>
          </p:cNvPr>
          <p:cNvCxnSpPr>
            <a:cxnSpLocks/>
          </p:cNvCxnSpPr>
          <p:nvPr/>
        </p:nvCxnSpPr>
        <p:spPr>
          <a:xfrm>
            <a:off x="90147" y="6578461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6A8919C-A67D-67A5-2C31-99E7F80BB7A4}"/>
              </a:ext>
            </a:extLst>
          </p:cNvPr>
          <p:cNvSpPr txBox="1"/>
          <p:nvPr/>
        </p:nvSpPr>
        <p:spPr>
          <a:xfrm>
            <a:off x="173932" y="6571184"/>
            <a:ext cx="91242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制御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Bus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A1A01817-5B59-0F4C-2529-239A49A6E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807038"/>
              </p:ext>
            </p:extLst>
          </p:nvPr>
        </p:nvGraphicFramePr>
        <p:xfrm>
          <a:off x="90147" y="563624"/>
          <a:ext cx="12011704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(CAN/GNSS/IMU?)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③前処理後画像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9B35080-C5B6-0B34-3FE5-6B1C4F2E5077}"/>
              </a:ext>
            </a:extLst>
          </p:cNvPr>
          <p:cNvSpPr/>
          <p:nvPr/>
        </p:nvSpPr>
        <p:spPr>
          <a:xfrm>
            <a:off x="90147" y="3506421"/>
            <a:ext cx="414949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AUTERA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7EA9F35-98E8-34EF-E0BC-DCA992CEB464}"/>
              </a:ext>
            </a:extLst>
          </p:cNvPr>
          <p:cNvSpPr/>
          <p:nvPr/>
        </p:nvSpPr>
        <p:spPr>
          <a:xfrm>
            <a:off x="10061833" y="3506421"/>
            <a:ext cx="414949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ハブ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414B6D2-FACD-CF66-1EBC-89E1F39A83E9}"/>
              </a:ext>
            </a:extLst>
          </p:cNvPr>
          <p:cNvSpPr/>
          <p:nvPr/>
        </p:nvSpPr>
        <p:spPr>
          <a:xfrm>
            <a:off x="2028863" y="3644139"/>
            <a:ext cx="5973574" cy="2927044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A34071A-EB2A-6F3A-4DEA-49A407181F0C}"/>
              </a:ext>
            </a:extLst>
          </p:cNvPr>
          <p:cNvSpPr txBox="1"/>
          <p:nvPr/>
        </p:nvSpPr>
        <p:spPr>
          <a:xfrm>
            <a:off x="4421577" y="3517167"/>
            <a:ext cx="1188146" cy="312073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ECU-B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D717B41-412E-161F-A2E5-F824BE4CC736}"/>
              </a:ext>
            </a:extLst>
          </p:cNvPr>
          <p:cNvSpPr txBox="1"/>
          <p:nvPr/>
        </p:nvSpPr>
        <p:spPr>
          <a:xfrm>
            <a:off x="743248" y="4371544"/>
            <a:ext cx="893193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×4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5AE7C68-4053-62EB-02A5-AE55F4C50E54}"/>
              </a:ext>
            </a:extLst>
          </p:cNvPr>
          <p:cNvSpPr txBox="1"/>
          <p:nvPr/>
        </p:nvSpPr>
        <p:spPr>
          <a:xfrm>
            <a:off x="8944939" y="4674064"/>
            <a:ext cx="954107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①物標情報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26F84934-C502-686E-3335-13793DF09EC7}"/>
              </a:ext>
            </a:extLst>
          </p:cNvPr>
          <p:cNvCxnSpPr>
            <a:cxnSpLocks/>
          </p:cNvCxnSpPr>
          <p:nvPr/>
        </p:nvCxnSpPr>
        <p:spPr>
          <a:xfrm>
            <a:off x="505096" y="4652139"/>
            <a:ext cx="17237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14D5261-E530-6703-D567-71F07381EB01}"/>
              </a:ext>
            </a:extLst>
          </p:cNvPr>
          <p:cNvSpPr/>
          <p:nvPr/>
        </p:nvSpPr>
        <p:spPr>
          <a:xfrm>
            <a:off x="2228850" y="4414610"/>
            <a:ext cx="2566687" cy="798512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各情報を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6C36F7A-0943-8514-69ED-F896D0C3EC83}"/>
              </a:ext>
            </a:extLst>
          </p:cNvPr>
          <p:cNvSpPr txBox="1"/>
          <p:nvPr/>
        </p:nvSpPr>
        <p:spPr>
          <a:xfrm>
            <a:off x="2483707" y="4180057"/>
            <a:ext cx="2056973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  <a:endParaRPr kumimoji="1" lang="ja-JP" altLang="en-US" sz="24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1D5C357-D731-68AF-330E-5B516ED587B7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 flipV="1">
            <a:off x="4795537" y="4810611"/>
            <a:ext cx="673867" cy="32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BC2C4AA-EE24-F622-696D-C81905508C60}"/>
              </a:ext>
            </a:extLst>
          </p:cNvPr>
          <p:cNvSpPr txBox="1"/>
          <p:nvPr/>
        </p:nvSpPr>
        <p:spPr>
          <a:xfrm>
            <a:off x="4754367" y="4348552"/>
            <a:ext cx="670376" cy="50231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</a:p>
          <a:p>
            <a:pPr algn="l">
              <a:lnSpc>
                <a:spcPct val="120000"/>
              </a:lnSpc>
            </a:pP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CAN?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CC079B8-D57D-3F42-10D4-783DFE6325B0}"/>
              </a:ext>
            </a:extLst>
          </p:cNvPr>
          <p:cNvSpPr/>
          <p:nvPr/>
        </p:nvSpPr>
        <p:spPr>
          <a:xfrm>
            <a:off x="5469404" y="4414611"/>
            <a:ext cx="2254373" cy="792000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物標の位置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</a:p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クラス分類を検出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67735A1B-2EAA-1B69-AF49-F04B7E64823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76157" y="5015998"/>
            <a:ext cx="1476000" cy="1440000"/>
          </a:xfrm>
          <a:prstGeom prst="bentConnector3">
            <a:avLst>
              <a:gd name="adj1" fmla="val 1001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5628D34-214E-D365-41BD-B52FF86EFBF6}"/>
              </a:ext>
            </a:extLst>
          </p:cNvPr>
          <p:cNvSpPr txBox="1"/>
          <p:nvPr/>
        </p:nvSpPr>
        <p:spPr>
          <a:xfrm>
            <a:off x="743248" y="4749310"/>
            <a:ext cx="962123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  <a:r>
              <a:rPr lang="en-US" altLang="ja-JP" sz="12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3477C6A7-5E83-767A-0C00-12645C9FFD87}"/>
              </a:ext>
            </a:extLst>
          </p:cNvPr>
          <p:cNvCxnSpPr>
            <a:cxnSpLocks/>
            <a:stCxn id="20" idx="2"/>
            <a:endCxn id="46" idx="0"/>
          </p:cNvCxnSpPr>
          <p:nvPr/>
        </p:nvCxnSpPr>
        <p:spPr>
          <a:xfrm>
            <a:off x="6596591" y="5206611"/>
            <a:ext cx="2005" cy="2979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C6172520-4E58-DEF2-25B9-9C26D5348041}"/>
              </a:ext>
            </a:extLst>
          </p:cNvPr>
          <p:cNvSpPr/>
          <p:nvPr/>
        </p:nvSpPr>
        <p:spPr>
          <a:xfrm>
            <a:off x="5473414" y="5701040"/>
            <a:ext cx="2250363" cy="799200"/>
          </a:xfrm>
          <a:prstGeom prst="rect">
            <a:avLst/>
          </a:prstGeom>
          <a:solidFill>
            <a:srgbClr val="FFFA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物標の速度を推定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47E5F18-9458-9505-5B36-2717D390E055}"/>
              </a:ext>
            </a:extLst>
          </p:cNvPr>
          <p:cNvSpPr txBox="1"/>
          <p:nvPr/>
        </p:nvSpPr>
        <p:spPr>
          <a:xfrm>
            <a:off x="5736821" y="5504565"/>
            <a:ext cx="1723549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③物標追跡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42E96CC-2307-03CC-4DFB-3D601ADB6F83}"/>
              </a:ext>
            </a:extLst>
          </p:cNvPr>
          <p:cNvSpPr txBox="1"/>
          <p:nvPr/>
        </p:nvSpPr>
        <p:spPr>
          <a:xfrm>
            <a:off x="2028863" y="6603810"/>
            <a:ext cx="7369325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自車移動情報はCAN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座標変換情報のどちらを使用するか、ECU-CからのCAN情報の利用要否も含め検討中</a:t>
            </a:r>
          </a:p>
        </p:txBody>
      </p: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EBF354F9-8F06-DF5B-3474-C62810893B1D}"/>
              </a:ext>
            </a:extLst>
          </p:cNvPr>
          <p:cNvCxnSpPr>
            <a:cxnSpLocks/>
            <a:stCxn id="52" idx="3"/>
            <a:endCxn id="14" idx="1"/>
          </p:cNvCxnSpPr>
          <p:nvPr/>
        </p:nvCxnSpPr>
        <p:spPr>
          <a:xfrm flipV="1">
            <a:off x="7723777" y="4946421"/>
            <a:ext cx="2338056" cy="1154219"/>
          </a:xfrm>
          <a:prstGeom prst="bentConnector3">
            <a:avLst>
              <a:gd name="adj1" fmla="val 5558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53AFAFC5-7BE8-5C60-BBF1-D72E5F8214D1}"/>
              </a:ext>
            </a:extLst>
          </p:cNvPr>
          <p:cNvSpPr txBox="1"/>
          <p:nvPr/>
        </p:nvSpPr>
        <p:spPr>
          <a:xfrm>
            <a:off x="6613748" y="5213122"/>
            <a:ext cx="800219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66493DD-AFEE-1DF6-4595-0D3CE9F65B6B}"/>
              </a:ext>
            </a:extLst>
          </p:cNvPr>
          <p:cNvSpPr/>
          <p:nvPr/>
        </p:nvSpPr>
        <p:spPr>
          <a:xfrm>
            <a:off x="4566804" y="563449"/>
            <a:ext cx="3763147" cy="2799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B44D115-9B9A-8680-9BEC-496DD62B0DD4}"/>
              </a:ext>
            </a:extLst>
          </p:cNvPr>
          <p:cNvSpPr txBox="1"/>
          <p:nvPr/>
        </p:nvSpPr>
        <p:spPr>
          <a:xfrm>
            <a:off x="5734816" y="4162796"/>
            <a:ext cx="1723549" cy="469103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②物標認識</a:t>
            </a:r>
            <a:endParaRPr kumimoji="1" lang="ja-JP" altLang="en-US" sz="24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5512A02D-5626-4AFF-673F-97D07AEB22AD}"/>
              </a:ext>
            </a:extLst>
          </p:cNvPr>
          <p:cNvCxnSpPr>
            <a:cxnSpLocks/>
            <a:endCxn id="20" idx="3"/>
          </p:cNvCxnSpPr>
          <p:nvPr/>
        </p:nvCxnSpPr>
        <p:spPr>
          <a:xfrm rot="10800000" flipV="1">
            <a:off x="7723778" y="4163427"/>
            <a:ext cx="2333435" cy="647183"/>
          </a:xfrm>
          <a:prstGeom prst="bentConnector3">
            <a:avLst>
              <a:gd name="adj1" fmla="val 8321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2DAC2783-EAF1-219F-C091-F322C638842E}"/>
              </a:ext>
            </a:extLst>
          </p:cNvPr>
          <p:cNvCxnSpPr>
            <a:cxnSpLocks/>
            <a:endCxn id="15" idx="0"/>
          </p:cNvCxnSpPr>
          <p:nvPr/>
        </p:nvCxnSpPr>
        <p:spPr>
          <a:xfrm rot="10800000" flipV="1">
            <a:off x="6596592" y="3861536"/>
            <a:ext cx="3465245" cy="3012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1A206F06-9680-9DDD-9139-F2F02200C335}"/>
              </a:ext>
            </a:extLst>
          </p:cNvPr>
          <p:cNvSpPr txBox="1"/>
          <p:nvPr/>
        </p:nvSpPr>
        <p:spPr>
          <a:xfrm>
            <a:off x="8206656" y="3909961"/>
            <a:ext cx="1261884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③前処理後画像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025100EB-245F-3C33-37FD-A04D34E8F9BE}"/>
              </a:ext>
            </a:extLst>
          </p:cNvPr>
          <p:cNvSpPr txBox="1"/>
          <p:nvPr/>
        </p:nvSpPr>
        <p:spPr>
          <a:xfrm>
            <a:off x="8206656" y="3609721"/>
            <a:ext cx="1859805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CAN/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</a:t>
            </a:r>
            <a:r>
              <a:rPr kumimoji="1" lang="en-US" altLang="ja-JP" sz="12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</a:p>
        </p:txBody>
      </p: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7D32990E-9AB7-FCAD-5E0E-36C220D9182F}"/>
              </a:ext>
            </a:extLst>
          </p:cNvPr>
          <p:cNvCxnSpPr>
            <a:cxnSpLocks/>
          </p:cNvCxnSpPr>
          <p:nvPr/>
        </p:nvCxnSpPr>
        <p:spPr>
          <a:xfrm rot="10800000" flipV="1">
            <a:off x="7725785" y="4475810"/>
            <a:ext cx="2331429" cy="1356934"/>
          </a:xfrm>
          <a:prstGeom prst="bentConnector3">
            <a:avLst>
              <a:gd name="adj1" fmla="val 7573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5E6DE699-969D-75A4-6A20-67A749F76BC1}"/>
              </a:ext>
            </a:extLst>
          </p:cNvPr>
          <p:cNvSpPr txBox="1"/>
          <p:nvPr/>
        </p:nvSpPr>
        <p:spPr>
          <a:xfrm>
            <a:off x="8206656" y="4210202"/>
            <a:ext cx="1261884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④座標変換情報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32F7369E-F78A-D150-2651-746A676FF45E}"/>
              </a:ext>
            </a:extLst>
          </p:cNvPr>
          <p:cNvSpPr/>
          <p:nvPr/>
        </p:nvSpPr>
        <p:spPr>
          <a:xfrm>
            <a:off x="11429730" y="3506421"/>
            <a:ext cx="677796" cy="28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Main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7BCD3082-3AB2-0AAC-C18D-BBAB93D32640}"/>
              </a:ext>
            </a:extLst>
          </p:cNvPr>
          <p:cNvSpPr txBox="1"/>
          <p:nvPr/>
        </p:nvSpPr>
        <p:spPr>
          <a:xfrm>
            <a:off x="10414677" y="4674064"/>
            <a:ext cx="954107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①物標情報</a:t>
            </a:r>
            <a:endParaRPr kumimoji="1" lang="en-US" altLang="ja-JP" sz="1200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BB21B32D-785C-6448-F5F6-E1FF5C91660A}"/>
              </a:ext>
            </a:extLst>
          </p:cNvPr>
          <p:cNvCxnSpPr>
            <a:cxnSpLocks/>
            <a:endCxn id="86" idx="1"/>
          </p:cNvCxnSpPr>
          <p:nvPr/>
        </p:nvCxnSpPr>
        <p:spPr>
          <a:xfrm>
            <a:off x="10476782" y="4946421"/>
            <a:ext cx="9529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166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485A5-F31D-4118-772F-979DF04A8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2C9A38-4721-8763-3940-02DF7C6F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0B4718-68A9-8020-5CE3-2A4C5CAB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C2A8990D-F478-9FEF-FB4C-3EF9898F717C}"/>
              </a:ext>
            </a:extLst>
          </p:cNvPr>
          <p:cNvSpPr/>
          <p:nvPr/>
        </p:nvSpPr>
        <p:spPr>
          <a:xfrm rot="10800000">
            <a:off x="4598124" y="3938831"/>
            <a:ext cx="2995750" cy="37484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8CBEA73-FE7A-8614-F8DF-B1211392DBD0}"/>
              </a:ext>
            </a:extLst>
          </p:cNvPr>
          <p:cNvGrpSpPr/>
          <p:nvPr/>
        </p:nvGrpSpPr>
        <p:grpSpPr>
          <a:xfrm>
            <a:off x="4141778" y="4640883"/>
            <a:ext cx="3884397" cy="891118"/>
            <a:chOff x="3081391" y="4741087"/>
            <a:chExt cx="3884397" cy="891118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503449F-9FF9-8FC8-2A8F-11B2822394CB}"/>
                </a:ext>
              </a:extLst>
            </p:cNvPr>
            <p:cNvSpPr txBox="1"/>
            <p:nvPr/>
          </p:nvSpPr>
          <p:spPr>
            <a:xfrm>
              <a:off x="3081391" y="5163102"/>
              <a:ext cx="3884397" cy="4691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 </a:t>
              </a:r>
              <a:r>
                <a: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4F2FA70-2131-A70A-9F35-E0C4EDB75603}"/>
                </a:ext>
              </a:extLst>
            </p:cNvPr>
            <p:cNvSpPr txBox="1"/>
            <p:nvPr/>
          </p:nvSpPr>
          <p:spPr>
            <a:xfrm>
              <a:off x="3081391" y="4741087"/>
              <a:ext cx="2031325" cy="37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【</a:t>
              </a:r>
              <a:r>
                <a:rPr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今回の検討事項</a:t>
              </a: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】</a:t>
              </a:r>
              <a:endPara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FE750A50-66BE-61FA-9CC8-739833744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990222"/>
              </p:ext>
            </p:extLst>
          </p:nvPr>
        </p:nvGraphicFramePr>
        <p:xfrm>
          <a:off x="90147" y="563624"/>
          <a:ext cx="12011704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(CAN/GNSS/IMU?)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②前処理後画像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823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FF21F-E42F-2A7E-FB84-E333679F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BE3EBA-4A0E-B32B-45C4-610560B39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1B5F01E-6D90-CD03-0773-0F70A1CD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471CCE-4ECC-F253-8E44-E6B6274739AB}"/>
              </a:ext>
            </a:extLst>
          </p:cNvPr>
          <p:cNvSpPr txBox="1"/>
          <p:nvPr/>
        </p:nvSpPr>
        <p:spPr>
          <a:xfrm>
            <a:off x="0" y="591917"/>
            <a:ext cx="5229317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周辺認識処理の全体概要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D2415AA-E2B7-DBC9-57A8-34927BFD1CBC}"/>
              </a:ext>
            </a:extLst>
          </p:cNvPr>
          <p:cNvSpPr txBox="1"/>
          <p:nvPr/>
        </p:nvSpPr>
        <p:spPr>
          <a:xfrm>
            <a:off x="0" y="4130811"/>
            <a:ext cx="3642344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今後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の検討事項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B688BDC2-ED0C-C801-C9F5-7AE686CD39CC}"/>
              </a:ext>
            </a:extLst>
          </p:cNvPr>
          <p:cNvGrpSpPr/>
          <p:nvPr/>
        </p:nvGrpSpPr>
        <p:grpSpPr>
          <a:xfrm>
            <a:off x="0" y="1768541"/>
            <a:ext cx="6218346" cy="1780361"/>
            <a:chOff x="0" y="2594560"/>
            <a:chExt cx="6218346" cy="1780361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C3EAB615-CBD6-DC8D-1711-869196D89D06}"/>
                </a:ext>
              </a:extLst>
            </p:cNvPr>
            <p:cNvSpPr txBox="1"/>
            <p:nvPr/>
          </p:nvSpPr>
          <p:spPr>
            <a:xfrm>
              <a:off x="0" y="2594560"/>
              <a:ext cx="3642344" cy="594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 </a:t>
              </a:r>
              <a:r>
                <a:rPr kumimoji="1"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</a:t>
              </a:r>
              <a:r>
                <a:rPr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の検討事項</a:t>
              </a:r>
              <a:endPara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EBE2B5A4-332B-0A28-79B1-A3F9B4A82F56}"/>
                </a:ext>
              </a:extLst>
            </p:cNvPr>
            <p:cNvSpPr txBox="1"/>
            <p:nvPr/>
          </p:nvSpPr>
          <p:spPr>
            <a:xfrm>
              <a:off x="597897" y="3189275"/>
              <a:ext cx="5620449" cy="11856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2-1.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の機能配置</a:t>
              </a:r>
              <a:endPara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2-2. </a:t>
              </a:r>
              <a:r>
                <a:rPr kumimoji="1"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kumimoji="1" lang="en-US" altLang="ja-JP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lang="ja-JP" altLang="en-US" sz="32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6231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24CF0-2A19-2B40-EC63-E78C7F099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77663A31-53D5-BA14-00B5-69C1524B09B4}"/>
              </a:ext>
            </a:extLst>
          </p:cNvPr>
          <p:cNvSpPr/>
          <p:nvPr/>
        </p:nvSpPr>
        <p:spPr>
          <a:xfrm>
            <a:off x="4779885" y="1863296"/>
            <a:ext cx="6927060" cy="428555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25BF03BC-FA1F-731B-D9E7-2788A40CF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28" y="2647458"/>
            <a:ext cx="1980112" cy="198011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DFE85F8E-5444-5298-50B6-EBBEE5743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2-2.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×8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の同期処理方法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209489B-73B2-66B8-B75A-372482AA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CF1C72-119B-B1D0-E1A5-67E220683090}"/>
              </a:ext>
            </a:extLst>
          </p:cNvPr>
          <p:cNvSpPr txBox="1"/>
          <p:nvPr/>
        </p:nvSpPr>
        <p:spPr>
          <a:xfrm>
            <a:off x="0" y="469100"/>
            <a:ext cx="538320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SOF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lang="en-US" altLang="ja-JP" sz="24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※1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or 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画像受信時刻で同期</a:t>
            </a:r>
            <a:endParaRPr kumimoji="1" lang="ja-JP" altLang="en-US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F8B3BCC6-A7CF-3799-BFE5-42C8936987B5}"/>
              </a:ext>
            </a:extLst>
          </p:cNvPr>
          <p:cNvCxnSpPr>
            <a:cxnSpLocks/>
          </p:cNvCxnSpPr>
          <p:nvPr/>
        </p:nvCxnSpPr>
        <p:spPr>
          <a:xfrm>
            <a:off x="200297" y="5005255"/>
            <a:ext cx="1187849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BCC490A-9198-D19F-711B-6E9988A5D8FD}"/>
              </a:ext>
            </a:extLst>
          </p:cNvPr>
          <p:cNvCxnSpPr>
            <a:cxnSpLocks/>
          </p:cNvCxnSpPr>
          <p:nvPr/>
        </p:nvCxnSpPr>
        <p:spPr>
          <a:xfrm flipH="1">
            <a:off x="1157384" y="4825255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CA78A88-EA5C-9FF9-3825-6E8E46C82D8B}"/>
              </a:ext>
            </a:extLst>
          </p:cNvPr>
          <p:cNvCxnSpPr>
            <a:cxnSpLocks/>
          </p:cNvCxnSpPr>
          <p:nvPr/>
        </p:nvCxnSpPr>
        <p:spPr>
          <a:xfrm>
            <a:off x="10063439" y="4825255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0FD901F-36D5-2798-8F2F-88EA88E6DDCA}"/>
              </a:ext>
            </a:extLst>
          </p:cNvPr>
          <p:cNvSpPr txBox="1"/>
          <p:nvPr/>
        </p:nvSpPr>
        <p:spPr>
          <a:xfrm>
            <a:off x="451101" y="5239426"/>
            <a:ext cx="1412566" cy="63895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撮像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endParaRPr kumimoji="1"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>
              <a:lnSpc>
                <a:spcPct val="120000"/>
              </a:lnSpc>
            </a:pP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取得不可？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750D4CD-C6C4-EC5D-0FA2-0BC1C3FE9A56}"/>
              </a:ext>
            </a:extLst>
          </p:cNvPr>
          <p:cNvSpPr txBox="1"/>
          <p:nvPr/>
        </p:nvSpPr>
        <p:spPr>
          <a:xfrm>
            <a:off x="8652904" y="5241894"/>
            <a:ext cx="3054041" cy="6340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画像受信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endParaRPr kumimoji="1"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>
              <a:lnSpc>
                <a:spcPct val="100000"/>
              </a:lnSpc>
            </a:pPr>
            <a:r>
              <a:rPr lang="en-US" altLang="ja-JP" sz="16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6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撮像からの遅延</a:t>
            </a:r>
            <a:r>
              <a:rPr lang="ja-JP" altLang="en-US" sz="16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の検討必要？</a:t>
            </a:r>
            <a:r>
              <a:rPr lang="en-US" altLang="ja-JP" sz="16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lang="ja-JP" altLang="en-US" sz="160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848CAC5-927C-A965-D202-8B9C1D1BD4FF}"/>
              </a:ext>
            </a:extLst>
          </p:cNvPr>
          <p:cNvSpPr txBox="1"/>
          <p:nvPr/>
        </p:nvSpPr>
        <p:spPr>
          <a:xfrm>
            <a:off x="4856458" y="5239426"/>
            <a:ext cx="1053494" cy="63895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SOF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endParaRPr kumimoji="1"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>
              <a:lnSpc>
                <a:spcPct val="120000"/>
              </a:lnSpc>
            </a:pPr>
            <a:r>
              <a:rPr lang="en-US" altLang="ja-JP" sz="1600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600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最優先</a:t>
            </a:r>
            <a:r>
              <a:rPr lang="en-US" altLang="ja-JP" sz="1600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600" dirty="0">
              <a:solidFill>
                <a:srgbClr val="0070C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812105B-88BC-74C6-76AF-BB183F4FC931}"/>
              </a:ext>
            </a:extLst>
          </p:cNvPr>
          <p:cNvSpPr/>
          <p:nvPr/>
        </p:nvSpPr>
        <p:spPr>
          <a:xfrm>
            <a:off x="2850829" y="1987272"/>
            <a:ext cx="450119" cy="2619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AUTERA</a:t>
            </a:r>
            <a:endParaRPr kumimoji="1" lang="ja-JP" altLang="en-US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82DEDFC1-40C8-4C45-754C-577C20FA426D}"/>
              </a:ext>
            </a:extLst>
          </p:cNvPr>
          <p:cNvCxnSpPr>
            <a:cxnSpLocks/>
          </p:cNvCxnSpPr>
          <p:nvPr/>
        </p:nvCxnSpPr>
        <p:spPr>
          <a:xfrm>
            <a:off x="1190352" y="5005255"/>
            <a:ext cx="4192853" cy="0"/>
          </a:xfrm>
          <a:prstGeom prst="straightConnector1">
            <a:avLst/>
          </a:prstGeom>
          <a:ln w="3810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35FE7F5-C046-7D60-987C-7098430A0208}"/>
              </a:ext>
            </a:extLst>
          </p:cNvPr>
          <p:cNvSpPr txBox="1"/>
          <p:nvPr/>
        </p:nvSpPr>
        <p:spPr>
          <a:xfrm>
            <a:off x="1815863" y="4981271"/>
            <a:ext cx="2941831" cy="63895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ja-JP" altLang="en-US" sz="1600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撮像～</a:t>
            </a:r>
            <a:r>
              <a:rPr kumimoji="1" lang="en-US" altLang="ja-JP" sz="1600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SOF</a:t>
            </a:r>
            <a:r>
              <a:rPr kumimoji="1" lang="ja-JP" altLang="en-US" sz="1600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の遅延</a:t>
            </a:r>
            <a:endParaRPr kumimoji="1" lang="en-US" altLang="ja-JP" sz="1600" dirty="0">
              <a:solidFill>
                <a:srgbClr val="0070C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>
              <a:lnSpc>
                <a:spcPct val="120000"/>
              </a:lnSpc>
            </a:pPr>
            <a:r>
              <a:rPr lang="en-US" altLang="ja-JP" sz="1600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(AUTERA</a:t>
            </a:r>
            <a:r>
              <a:rPr lang="ja-JP" altLang="en-US" sz="1600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遅延は微小と仮定</a:t>
            </a:r>
            <a:r>
              <a:rPr lang="en-US" altLang="ja-JP" sz="1600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600" dirty="0">
              <a:solidFill>
                <a:srgbClr val="0070C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A666D816-32E4-30AB-701C-FF874A87F1E7}"/>
              </a:ext>
            </a:extLst>
          </p:cNvPr>
          <p:cNvSpPr txBox="1"/>
          <p:nvPr/>
        </p:nvSpPr>
        <p:spPr>
          <a:xfrm>
            <a:off x="0" y="1110765"/>
            <a:ext cx="4830168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撮像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から認識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での画像受信までの流れ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7612B67F-C274-6036-3FD2-6E656DB72457}"/>
              </a:ext>
            </a:extLst>
          </p:cNvPr>
          <p:cNvSpPr txBox="1"/>
          <p:nvPr/>
        </p:nvSpPr>
        <p:spPr>
          <a:xfrm>
            <a:off x="801464" y="2221494"/>
            <a:ext cx="777777" cy="3434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カメラ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4F140396-488E-67F1-70F3-11CFC56621E9}"/>
              </a:ext>
            </a:extLst>
          </p:cNvPr>
          <p:cNvSpPr txBox="1"/>
          <p:nvPr/>
        </p:nvSpPr>
        <p:spPr>
          <a:xfrm>
            <a:off x="7705447" y="1691550"/>
            <a:ext cx="1075936" cy="34349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endParaRPr kumimoji="1" lang="ja-JP" alt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46504332-49EF-D31B-E616-4CD2DE0BBF8D}"/>
              </a:ext>
            </a:extLst>
          </p:cNvPr>
          <p:cNvCxnSpPr>
            <a:cxnSpLocks/>
          </p:cNvCxnSpPr>
          <p:nvPr/>
        </p:nvCxnSpPr>
        <p:spPr>
          <a:xfrm>
            <a:off x="5364590" y="4825255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23D2BCA4-E12B-6AE6-32C6-B8319A13E6CB}"/>
              </a:ext>
            </a:extLst>
          </p:cNvPr>
          <p:cNvCxnSpPr>
            <a:cxnSpLocks/>
          </p:cNvCxnSpPr>
          <p:nvPr/>
        </p:nvCxnSpPr>
        <p:spPr>
          <a:xfrm>
            <a:off x="1579241" y="2392152"/>
            <a:ext cx="1249397" cy="80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F1D4224-115D-8950-4502-D27584DDA3F1}"/>
              </a:ext>
            </a:extLst>
          </p:cNvPr>
          <p:cNvSpPr txBox="1"/>
          <p:nvPr/>
        </p:nvSpPr>
        <p:spPr>
          <a:xfrm>
            <a:off x="1572829" y="2137099"/>
            <a:ext cx="941283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画像データ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95227BF-9AE1-855F-73D1-2C9F719FAFC1}"/>
              </a:ext>
            </a:extLst>
          </p:cNvPr>
          <p:cNvSpPr txBox="1"/>
          <p:nvPr/>
        </p:nvSpPr>
        <p:spPr>
          <a:xfrm>
            <a:off x="3300948" y="2137099"/>
            <a:ext cx="941283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画像データ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95819119-8A57-0750-F30D-3828F176C7DD}"/>
              </a:ext>
            </a:extLst>
          </p:cNvPr>
          <p:cNvCxnSpPr>
            <a:cxnSpLocks/>
          </p:cNvCxnSpPr>
          <p:nvPr/>
        </p:nvCxnSpPr>
        <p:spPr>
          <a:xfrm>
            <a:off x="3300948" y="2396178"/>
            <a:ext cx="18385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E7481EDE-08BA-340D-9638-53EF1C62CC78}"/>
              </a:ext>
            </a:extLst>
          </p:cNvPr>
          <p:cNvSpPr/>
          <p:nvPr/>
        </p:nvSpPr>
        <p:spPr>
          <a:xfrm>
            <a:off x="5139531" y="1987271"/>
            <a:ext cx="450119" cy="26894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カメラドライバ</a:t>
            </a:r>
          </a:p>
        </p:txBody>
      </p: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6F4B8A38-009B-E3B4-77CD-B0DCFB93D204}"/>
              </a:ext>
            </a:extLst>
          </p:cNvPr>
          <p:cNvCxnSpPr>
            <a:cxnSpLocks/>
          </p:cNvCxnSpPr>
          <p:nvPr/>
        </p:nvCxnSpPr>
        <p:spPr>
          <a:xfrm flipV="1">
            <a:off x="5589650" y="2392152"/>
            <a:ext cx="4248730" cy="4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7E42B4D-450F-816C-29A2-A8F7E8D83CA1}"/>
              </a:ext>
            </a:extLst>
          </p:cNvPr>
          <p:cNvSpPr txBox="1"/>
          <p:nvPr/>
        </p:nvSpPr>
        <p:spPr>
          <a:xfrm>
            <a:off x="5588589" y="2137099"/>
            <a:ext cx="1776448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フレームの画像データ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2477E6E6-A3C2-20B4-61A6-7CCB75A590F3}"/>
              </a:ext>
            </a:extLst>
          </p:cNvPr>
          <p:cNvCxnSpPr>
            <a:cxnSpLocks/>
          </p:cNvCxnSpPr>
          <p:nvPr/>
        </p:nvCxnSpPr>
        <p:spPr>
          <a:xfrm>
            <a:off x="5364590" y="5006649"/>
            <a:ext cx="4702518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C1F4C1C-438A-3DD0-3A21-EF05F0004D62}"/>
              </a:ext>
            </a:extLst>
          </p:cNvPr>
          <p:cNvSpPr txBox="1"/>
          <p:nvPr/>
        </p:nvSpPr>
        <p:spPr>
          <a:xfrm>
            <a:off x="6808797" y="4981271"/>
            <a:ext cx="1928733" cy="3434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6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画像受信・取得遅延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C53F327-62E8-75F7-2106-F871F78792BC}"/>
              </a:ext>
            </a:extLst>
          </p:cNvPr>
          <p:cNvSpPr txBox="1"/>
          <p:nvPr/>
        </p:nvSpPr>
        <p:spPr>
          <a:xfrm>
            <a:off x="6696585" y="469100"/>
            <a:ext cx="549541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※1 Start of Frame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認識ECU側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画像フレームの受信開始を検出した時刻。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 </a:t>
            </a:r>
            <a:r>
              <a:rPr lang="ja-JP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取得可否は調査中。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3A2AE19-3F22-8BD8-F703-93F3F14F6DA4}"/>
              </a:ext>
            </a:extLst>
          </p:cNvPr>
          <p:cNvSpPr/>
          <p:nvPr/>
        </p:nvSpPr>
        <p:spPr>
          <a:xfrm>
            <a:off x="9838380" y="2061544"/>
            <a:ext cx="450119" cy="26894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画像受信部</a:t>
            </a:r>
            <a:endParaRPr kumimoji="1"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9971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FAD70-5F63-15A6-21EA-D0ED5B96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7F9A1-7336-AB90-D17E-3A4521250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2-2.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×8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の同期処理方法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486135B-7897-B25C-C481-C0F5CEC0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776C00E8-26B5-0F56-39BC-CA19A747F045}"/>
              </a:ext>
            </a:extLst>
          </p:cNvPr>
          <p:cNvSpPr txBox="1"/>
          <p:nvPr/>
        </p:nvSpPr>
        <p:spPr>
          <a:xfrm>
            <a:off x="0" y="469100"/>
            <a:ext cx="658225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lang="ja-JP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Topicの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ヘッダー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US" altLang="ja-JP" sz="16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header.stamp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に時刻を付与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4132EA62-79BF-ADB6-6FDA-6EFA719E6687}"/>
              </a:ext>
            </a:extLst>
          </p:cNvPr>
          <p:cNvSpPr txBox="1"/>
          <p:nvPr/>
        </p:nvSpPr>
        <p:spPr>
          <a:xfrm>
            <a:off x="31812" y="3821911"/>
            <a:ext cx="684033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ROS2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の時刻同期機能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ApproximateTime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を使用</a:t>
            </a:r>
            <a:endParaRPr lang="ja-JP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6" name="図 65">
            <a:extLst>
              <a:ext uri="{FF2B5EF4-FFF2-40B4-BE49-F238E27FC236}">
                <a16:creationId xmlns:a16="http://schemas.microsoft.com/office/drawing/2014/main" id="{427EB209-B3D3-5104-B283-A58C4829E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53" y="4260936"/>
            <a:ext cx="6830378" cy="2572109"/>
          </a:xfrm>
          <a:prstGeom prst="rect">
            <a:avLst/>
          </a:prstGeom>
        </p:spPr>
      </p:pic>
      <p:sp>
        <p:nvSpPr>
          <p:cNvPr id="67" name="吹き出し: 四角形 66">
            <a:extLst>
              <a:ext uri="{FF2B5EF4-FFF2-40B4-BE49-F238E27FC236}">
                <a16:creationId xmlns:a16="http://schemas.microsoft.com/office/drawing/2014/main" id="{184E18A0-2D7D-BC66-B5AE-CB9EBA4570C5}"/>
              </a:ext>
            </a:extLst>
          </p:cNvPr>
          <p:cNvSpPr/>
          <p:nvPr/>
        </p:nvSpPr>
        <p:spPr>
          <a:xfrm>
            <a:off x="7420831" y="5387423"/>
            <a:ext cx="4503156" cy="1330379"/>
          </a:xfrm>
          <a:prstGeom prst="wedgeRectCallout">
            <a:avLst>
              <a:gd name="adj1" fmla="val -57855"/>
              <a:gd name="adj2" fmla="val 594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の時刻情報</a:t>
            </a:r>
            <a:r>
              <a:rPr kumimoji="1"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US" altLang="ja-JP" sz="16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header.stamp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を基準に、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許容時間差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(slop)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以内のメッセージを同期し、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コールバック関数へ渡す。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同期候補は、</a:t>
            </a:r>
            <a:r>
              <a:rPr lang="en-US" altLang="ja-JP" sz="16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queue_size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に従って一時保持し、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使用後は削除する。</a:t>
            </a:r>
            <a:endParaRPr kumimoji="1" lang="ja-JP" altLang="en-US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3D766F87-64BE-BB34-0F5B-96CA392226D4}"/>
              </a:ext>
            </a:extLst>
          </p:cNvPr>
          <p:cNvCxnSpPr/>
          <p:nvPr/>
        </p:nvCxnSpPr>
        <p:spPr>
          <a:xfrm>
            <a:off x="4197537" y="4593335"/>
            <a:ext cx="25167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743BA7F8-7C8F-BC9A-6086-46CFCD372A9A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5446401" y="4756884"/>
            <a:ext cx="1983954" cy="98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BBFC1D59-5551-7847-ADE9-85A6224BD408}"/>
              </a:ext>
            </a:extLst>
          </p:cNvPr>
          <p:cNvCxnSpPr>
            <a:cxnSpLocks/>
          </p:cNvCxnSpPr>
          <p:nvPr/>
        </p:nvCxnSpPr>
        <p:spPr>
          <a:xfrm flipV="1">
            <a:off x="5455925" y="4593335"/>
            <a:ext cx="0" cy="1659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8F52BF9D-405E-9E5E-ED90-A99D64AA76EB}"/>
              </a:ext>
            </a:extLst>
          </p:cNvPr>
          <p:cNvSpPr txBox="1"/>
          <p:nvPr/>
        </p:nvSpPr>
        <p:spPr>
          <a:xfrm>
            <a:off x="7420831" y="4319680"/>
            <a:ext cx="4503156" cy="87440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fs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：同期対象の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subscriber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のリスト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([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sub, 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sub])</a:t>
            </a:r>
          </a:p>
          <a:p>
            <a:pPr algn="l">
              <a:lnSpc>
                <a:spcPct val="120000"/>
              </a:lnSpc>
            </a:pPr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kumimoji="1"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queue_size</a:t>
            </a:r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同期候補として一時保持するメッセージ数の上限</a:t>
            </a:r>
            <a:endParaRPr kumimoji="1" lang="en-US" altLang="ja-JP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slop: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同期を許容するタイムスタンプの時間差</a:t>
            </a:r>
            <a:endParaRPr lang="en-US" altLang="ja-JP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allow_headerless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header.stamp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無しを同期対象とするか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D7A3CB07-CFE1-5107-F650-8419947A3E49}"/>
              </a:ext>
            </a:extLst>
          </p:cNvPr>
          <p:cNvSpPr/>
          <p:nvPr/>
        </p:nvSpPr>
        <p:spPr>
          <a:xfrm>
            <a:off x="7430355" y="4342342"/>
            <a:ext cx="4493632" cy="848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51F05FFA-1670-7906-97AE-314A95EC26EC}"/>
              </a:ext>
            </a:extLst>
          </p:cNvPr>
          <p:cNvSpPr/>
          <p:nvPr/>
        </p:nvSpPr>
        <p:spPr>
          <a:xfrm>
            <a:off x="516932" y="1015166"/>
            <a:ext cx="388760" cy="25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AUTERA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6D129A58-7DF8-C9B3-7049-98E16ADC475B}"/>
              </a:ext>
            </a:extLst>
          </p:cNvPr>
          <p:cNvSpPr/>
          <p:nvPr/>
        </p:nvSpPr>
        <p:spPr>
          <a:xfrm>
            <a:off x="11591800" y="1015166"/>
            <a:ext cx="388760" cy="25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ハブ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2C6B43BA-403A-F5BF-F794-80C8DC7BB652}"/>
              </a:ext>
            </a:extLst>
          </p:cNvPr>
          <p:cNvSpPr/>
          <p:nvPr/>
        </p:nvSpPr>
        <p:spPr>
          <a:xfrm>
            <a:off x="1535767" y="1184551"/>
            <a:ext cx="9052739" cy="9032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2F28F453-9752-B239-2793-66772E564A04}"/>
              </a:ext>
            </a:extLst>
          </p:cNvPr>
          <p:cNvSpPr txBox="1"/>
          <p:nvPr/>
        </p:nvSpPr>
        <p:spPr>
          <a:xfrm>
            <a:off x="1777533" y="1454481"/>
            <a:ext cx="4516311" cy="570605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【Topic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>
              <a:lnSpc>
                <a:spcPct val="120000"/>
              </a:lnSpc>
            </a:pP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枚目の画像の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SOF or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画像受信時刻を記録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4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lang="en-US" altLang="ja-JP" sz="14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r>
              <a:rPr lang="en-US" altLang="ja-JP" sz="14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9503FF12-8407-84FA-AA7E-5183484A920C}"/>
              </a:ext>
            </a:extLst>
          </p:cNvPr>
          <p:cNvSpPr txBox="1"/>
          <p:nvPr/>
        </p:nvSpPr>
        <p:spPr>
          <a:xfrm>
            <a:off x="8048663" y="604871"/>
            <a:ext cx="1492716" cy="3748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トピックの図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8BE54617-5738-2691-1954-AF066189F687}"/>
              </a:ext>
            </a:extLst>
          </p:cNvPr>
          <p:cNvSpPr txBox="1"/>
          <p:nvPr/>
        </p:nvSpPr>
        <p:spPr>
          <a:xfrm>
            <a:off x="5648401" y="1015166"/>
            <a:ext cx="827471" cy="3120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ECU-A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54A48258-F7AF-C19C-C4C9-A5B0957E00F6}"/>
              </a:ext>
            </a:extLst>
          </p:cNvPr>
          <p:cNvSpPr txBox="1"/>
          <p:nvPr/>
        </p:nvSpPr>
        <p:spPr>
          <a:xfrm>
            <a:off x="857633" y="1511344"/>
            <a:ext cx="739305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×4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B95D0391-6F9B-D9EA-7796-A920225F5359}"/>
              </a:ext>
            </a:extLst>
          </p:cNvPr>
          <p:cNvSpPr txBox="1"/>
          <p:nvPr/>
        </p:nvSpPr>
        <p:spPr>
          <a:xfrm>
            <a:off x="7474710" y="1454481"/>
            <a:ext cx="3005952" cy="570605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前処理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を前処理後画像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に付与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AE7EFA36-49AB-9E43-4A4A-CA1A184D3A8A}"/>
              </a:ext>
            </a:extLst>
          </p:cNvPr>
          <p:cNvSpPr txBox="1"/>
          <p:nvPr/>
        </p:nvSpPr>
        <p:spPr>
          <a:xfrm>
            <a:off x="6251384" y="1289745"/>
            <a:ext cx="960519" cy="50231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×4</a:t>
            </a:r>
          </a:p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統合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3368E90C-035E-5306-B07D-439A8FAA8A0B}"/>
              </a:ext>
            </a:extLst>
          </p:cNvPr>
          <p:cNvSpPr txBox="1"/>
          <p:nvPr/>
        </p:nvSpPr>
        <p:spPr>
          <a:xfrm>
            <a:off x="10588506" y="1289745"/>
            <a:ext cx="960519" cy="50231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前処理後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72B938D4-50D4-D608-AB91-0DD836866260}"/>
              </a:ext>
            </a:extLst>
          </p:cNvPr>
          <p:cNvSpPr txBox="1"/>
          <p:nvPr/>
        </p:nvSpPr>
        <p:spPr>
          <a:xfrm>
            <a:off x="10631281" y="2294512"/>
            <a:ext cx="960519" cy="50231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前処理後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23793179-4BA2-52B0-8B77-B97798832054}"/>
              </a:ext>
            </a:extLst>
          </p:cNvPr>
          <p:cNvSpPr txBox="1"/>
          <p:nvPr/>
        </p:nvSpPr>
        <p:spPr>
          <a:xfrm>
            <a:off x="9263241" y="3651931"/>
            <a:ext cx="2896947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ECU-A/B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の時刻は同期している前提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A4F502D8-00C3-ABAA-AFE4-3B93703BD6E9}"/>
              </a:ext>
            </a:extLst>
          </p:cNvPr>
          <p:cNvSpPr/>
          <p:nvPr/>
        </p:nvSpPr>
        <p:spPr>
          <a:xfrm>
            <a:off x="1512053" y="2631917"/>
            <a:ext cx="9052739" cy="9032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F3DC7347-EA4B-31F3-7822-039A32DB85A1}"/>
              </a:ext>
            </a:extLst>
          </p:cNvPr>
          <p:cNvSpPr txBox="1"/>
          <p:nvPr/>
        </p:nvSpPr>
        <p:spPr>
          <a:xfrm>
            <a:off x="1715347" y="2916527"/>
            <a:ext cx="4578497" cy="570605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【Topic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>
              <a:lnSpc>
                <a:spcPct val="120000"/>
              </a:lnSpc>
            </a:pP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枚目の画像の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SOF or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画像受信時刻を記録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4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lang="en-US" altLang="ja-JP" sz="14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r>
              <a:rPr lang="en-US" altLang="ja-JP" sz="1400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B2E7FECA-DB48-DC0D-5306-EA40DE04DEE7}"/>
              </a:ext>
            </a:extLst>
          </p:cNvPr>
          <p:cNvSpPr txBox="1"/>
          <p:nvPr/>
        </p:nvSpPr>
        <p:spPr>
          <a:xfrm>
            <a:off x="5648400" y="2477734"/>
            <a:ext cx="829073" cy="3120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ECU-B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3BAC14E6-07BD-0409-9426-BB5A04582D92}"/>
              </a:ext>
            </a:extLst>
          </p:cNvPr>
          <p:cNvSpPr txBox="1"/>
          <p:nvPr/>
        </p:nvSpPr>
        <p:spPr>
          <a:xfrm>
            <a:off x="7474710" y="2916527"/>
            <a:ext cx="3005952" cy="570605"/>
          </a:xfrm>
          <a:prstGeom prst="rect">
            <a:avLst/>
          </a:prstGeom>
          <a:solidFill>
            <a:srgbClr val="FFFAEB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物標認識処理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で同期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95C29ED5-CB59-2E39-312F-CC334047113D}"/>
              </a:ext>
            </a:extLst>
          </p:cNvPr>
          <p:cNvSpPr txBox="1"/>
          <p:nvPr/>
        </p:nvSpPr>
        <p:spPr>
          <a:xfrm>
            <a:off x="839220" y="2973912"/>
            <a:ext cx="739305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×4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52570918-1937-7CB0-DFAD-2B4CD39377B1}"/>
              </a:ext>
            </a:extLst>
          </p:cNvPr>
          <p:cNvCxnSpPr>
            <a:cxnSpLocks/>
            <a:endCxn id="86" idx="1"/>
          </p:cNvCxnSpPr>
          <p:nvPr/>
        </p:nvCxnSpPr>
        <p:spPr>
          <a:xfrm>
            <a:off x="905692" y="1739784"/>
            <a:ext cx="8718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矢印コネクタ 109">
            <a:extLst>
              <a:ext uri="{FF2B5EF4-FFF2-40B4-BE49-F238E27FC236}">
                <a16:creationId xmlns:a16="http://schemas.microsoft.com/office/drawing/2014/main" id="{4DE1504A-E80E-F0EF-90F1-E4360F91B7AD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905692" y="3201830"/>
            <a:ext cx="8096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E23116C5-ADD4-190A-3292-0A39E06B4503}"/>
              </a:ext>
            </a:extLst>
          </p:cNvPr>
          <p:cNvCxnSpPr>
            <a:cxnSpLocks/>
            <a:stCxn id="86" idx="3"/>
            <a:endCxn id="96" idx="1"/>
          </p:cNvCxnSpPr>
          <p:nvPr/>
        </p:nvCxnSpPr>
        <p:spPr>
          <a:xfrm>
            <a:off x="6293844" y="1739784"/>
            <a:ext cx="11808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矢印コネクタ 115">
            <a:extLst>
              <a:ext uri="{FF2B5EF4-FFF2-40B4-BE49-F238E27FC236}">
                <a16:creationId xmlns:a16="http://schemas.microsoft.com/office/drawing/2014/main" id="{4EDAEEEA-6CA9-7B2B-4078-99DD46EE69C9}"/>
              </a:ext>
            </a:extLst>
          </p:cNvPr>
          <p:cNvCxnSpPr>
            <a:cxnSpLocks/>
            <a:stCxn id="102" idx="3"/>
            <a:endCxn id="104" idx="1"/>
          </p:cNvCxnSpPr>
          <p:nvPr/>
        </p:nvCxnSpPr>
        <p:spPr>
          <a:xfrm>
            <a:off x="6293844" y="3201830"/>
            <a:ext cx="11808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9BFBB1D8-0FD5-58AD-61B9-42EB8ED6CF86}"/>
              </a:ext>
            </a:extLst>
          </p:cNvPr>
          <p:cNvCxnSpPr>
            <a:cxnSpLocks/>
            <a:stCxn id="96" idx="3"/>
          </p:cNvCxnSpPr>
          <p:nvPr/>
        </p:nvCxnSpPr>
        <p:spPr>
          <a:xfrm>
            <a:off x="10480662" y="1739784"/>
            <a:ext cx="1111138" cy="10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コネクタ: カギ線 122">
            <a:extLst>
              <a:ext uri="{FF2B5EF4-FFF2-40B4-BE49-F238E27FC236}">
                <a16:creationId xmlns:a16="http://schemas.microsoft.com/office/drawing/2014/main" id="{C68E4981-16B1-8639-822F-9A675852B5D0}"/>
              </a:ext>
            </a:extLst>
          </p:cNvPr>
          <p:cNvCxnSpPr>
            <a:endCxn id="104" idx="0"/>
          </p:cNvCxnSpPr>
          <p:nvPr/>
        </p:nvCxnSpPr>
        <p:spPr>
          <a:xfrm rot="10800000" flipV="1">
            <a:off x="8977686" y="2789807"/>
            <a:ext cx="2614114" cy="12672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21CB912-AE7F-7067-4D43-447B428E448B}"/>
              </a:ext>
            </a:extLst>
          </p:cNvPr>
          <p:cNvSpPr txBox="1"/>
          <p:nvPr/>
        </p:nvSpPr>
        <p:spPr>
          <a:xfrm>
            <a:off x="6227355" y="2752313"/>
            <a:ext cx="960519" cy="50231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×4</a:t>
            </a:r>
          </a:p>
          <a:p>
            <a:pPr algn="l">
              <a:lnSpc>
                <a:spcPct val="120000"/>
              </a:lnSpc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統合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1180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1B55E-0948-00BF-4F69-EA84A49E9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A329D9-93D8-686D-1925-E0977B6C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86E0A0-3C09-59A7-70B8-32C38921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072FCD2-C9B9-9498-5BD4-F62B39F11B57}"/>
              </a:ext>
            </a:extLst>
          </p:cNvPr>
          <p:cNvSpPr txBox="1"/>
          <p:nvPr/>
        </p:nvSpPr>
        <p:spPr>
          <a:xfrm>
            <a:off x="0" y="591917"/>
            <a:ext cx="5229317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周辺認識処理の全体概要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FFEB5D3-7D16-FE00-3A9A-FD80EFEEFA73}"/>
              </a:ext>
            </a:extLst>
          </p:cNvPr>
          <p:cNvSpPr txBox="1"/>
          <p:nvPr/>
        </p:nvSpPr>
        <p:spPr>
          <a:xfrm>
            <a:off x="0" y="4130811"/>
            <a:ext cx="3642344" cy="59471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en-US" altLang="ja-JP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今後</a:t>
            </a:r>
            <a:r>
              <a:rPr kumimoji="1" lang="ja-JP" altLang="en-US" sz="32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の検討事項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F6D5BDB3-D8B6-A062-20A2-3631448F8689}"/>
              </a:ext>
            </a:extLst>
          </p:cNvPr>
          <p:cNvGrpSpPr/>
          <p:nvPr/>
        </p:nvGrpSpPr>
        <p:grpSpPr>
          <a:xfrm>
            <a:off x="0" y="1768541"/>
            <a:ext cx="6218346" cy="1780361"/>
            <a:chOff x="0" y="2594560"/>
            <a:chExt cx="6218346" cy="1780361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EFA6353F-8442-0C68-D27C-71AC33A674D5}"/>
                </a:ext>
              </a:extLst>
            </p:cNvPr>
            <p:cNvSpPr txBox="1"/>
            <p:nvPr/>
          </p:nvSpPr>
          <p:spPr>
            <a:xfrm>
              <a:off x="0" y="2594560"/>
              <a:ext cx="3642344" cy="594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</a:t>
              </a:r>
              <a:r>
                <a:rPr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の検討事項</a:t>
              </a:r>
              <a:endParaRPr kumimoji="1" lang="ja-JP" altLang="en-US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AADAB25-AB96-7262-1B0D-A21E2198E515}"/>
                </a:ext>
              </a:extLst>
            </p:cNvPr>
            <p:cNvSpPr txBox="1"/>
            <p:nvPr/>
          </p:nvSpPr>
          <p:spPr>
            <a:xfrm>
              <a:off x="597897" y="3189275"/>
              <a:ext cx="5620449" cy="11856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2-1.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認識</a:t>
              </a: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ECU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の機能配置</a:t>
              </a:r>
              <a:endPara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2-2. </a:t>
              </a:r>
              <a:r>
                <a:rPr kumimoji="1"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kumimoji="1" lang="en-US" altLang="ja-JP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lang="ja-JP" altLang="en-US" sz="3200" b="1" dirty="0">
                  <a:solidFill>
                    <a:schemeClr val="tx1">
                      <a:alpha val="20000"/>
                    </a:schemeClr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3200" b="1" dirty="0">
                <a:solidFill>
                  <a:schemeClr val="tx1">
                    <a:alpha val="2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3047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0A6D9-32F3-6136-D14E-A1216742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660401-6A55-27B1-FC8E-C146EF21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次回以降の検討事項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85C8DD8-1BC2-0F4D-B268-B064316F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C75A0622-D655-5A67-1069-71E3B128256D}"/>
              </a:ext>
            </a:extLst>
          </p:cNvPr>
          <p:cNvSpPr/>
          <p:nvPr/>
        </p:nvSpPr>
        <p:spPr>
          <a:xfrm rot="10800000">
            <a:off x="4655997" y="4202524"/>
            <a:ext cx="2880000" cy="241670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5D10F641-FE57-75E1-D38B-D029FD2EF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551280"/>
              </p:ext>
            </p:extLst>
          </p:nvPr>
        </p:nvGraphicFramePr>
        <p:xfrm>
          <a:off x="90145" y="577705"/>
          <a:ext cx="12011704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   (CAN/GNSS/IMU?)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②前処理後画像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③自車移動情報</a:t>
                      </a:r>
                      <a:endParaRPr kumimoji="1" lang="en-US" altLang="ja-JP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　 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6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8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F515805-546D-D5A6-CBE6-054CD0A4883B}"/>
              </a:ext>
            </a:extLst>
          </p:cNvPr>
          <p:cNvSpPr txBox="1"/>
          <p:nvPr/>
        </p:nvSpPr>
        <p:spPr>
          <a:xfrm>
            <a:off x="956608" y="4463661"/>
            <a:ext cx="10278776" cy="23896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入出力情報</a:t>
            </a:r>
            <a:endParaRPr lang="en-US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→自車移動情報への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の使用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ECU-C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からの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情報の出力要否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IMU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の入力要否</a:t>
            </a:r>
            <a:endParaRPr kumimoji="1"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20000"/>
              </a:lnSpc>
            </a:pP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 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画像、自車移動情報、座標変換情報の同期処理方法</a:t>
            </a:r>
            <a:endParaRPr lang="en-US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20000"/>
              </a:lnSpc>
            </a:pP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 Main-ECU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への出力仕様</a:t>
            </a:r>
            <a:endParaRPr lang="en-US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20000"/>
              </a:lnSpc>
            </a:pP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→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100ms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周期未達時の対応</a:t>
            </a:r>
            <a:endParaRPr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20000"/>
              </a:lnSpc>
            </a:pP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4. SOF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時刻の利用可否、時刻同期のパラメータ値、画像欠落時の対応</a:t>
            </a:r>
            <a:endParaRPr lang="en-US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0039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133083-EE96-F7E0-2966-0CEC7A101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7B999D-53C5-E6B4-8B54-C422406C3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2-1.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での機能配置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周辺認識機能に限定</a:t>
            </a:r>
            <a:r>
              <a:rPr lang="en-US" altLang="ja-JP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0F68D7-B8E6-86F2-8639-F689640E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7FE0274A-2A5C-4DBA-9586-61259FAADBD1}"/>
              </a:ext>
            </a:extLst>
          </p:cNvPr>
          <p:cNvSpPr/>
          <p:nvPr/>
        </p:nvSpPr>
        <p:spPr>
          <a:xfrm rot="10800000">
            <a:off x="4598124" y="3938831"/>
            <a:ext cx="2995750" cy="37484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51832556-BE4B-6F63-36F2-C98061614550}"/>
              </a:ext>
            </a:extLst>
          </p:cNvPr>
          <p:cNvGrpSpPr/>
          <p:nvPr/>
        </p:nvGrpSpPr>
        <p:grpSpPr>
          <a:xfrm>
            <a:off x="4141777" y="4640883"/>
            <a:ext cx="3908443" cy="1894033"/>
            <a:chOff x="3081390" y="4741087"/>
            <a:chExt cx="3908443" cy="1894033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A70D4747-3DA2-515E-819A-1EC4ECBC6A5C}"/>
                </a:ext>
              </a:extLst>
            </p:cNvPr>
            <p:cNvSpPr txBox="1"/>
            <p:nvPr/>
          </p:nvSpPr>
          <p:spPr>
            <a:xfrm>
              <a:off x="3081391" y="5163102"/>
              <a:ext cx="3908442" cy="4691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457200" indent="-457200" algn="l">
                <a:lnSpc>
                  <a:spcPct val="120000"/>
                </a:lnSpc>
                <a:buAutoNum type="arabicPeriod"/>
              </a:pPr>
              <a:r>
                <a: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画像</a:t>
              </a:r>
              <a:r>
                <a:rPr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×8</a:t>
              </a:r>
              <a:r>
                <a: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の同期処理方法</a:t>
              </a:r>
              <a:endPara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3883D0B8-23E0-6BA4-1564-279248D504F1}"/>
                </a:ext>
              </a:extLst>
            </p:cNvPr>
            <p:cNvSpPr txBox="1"/>
            <p:nvPr/>
          </p:nvSpPr>
          <p:spPr>
            <a:xfrm>
              <a:off x="3081390" y="5848430"/>
              <a:ext cx="3700052" cy="786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</a:t>
              </a:r>
              <a:r>
                <a:rPr kumimoji="1" lang="en-US" altLang="ja-JP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. </a:t>
              </a:r>
              <a:r>
                <a:rPr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判断処理へ</a:t>
              </a:r>
              <a:r>
                <a:rPr kumimoji="1" lang="ja-JP" altLang="en-US" sz="2400" b="1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の出力仕様</a:t>
              </a:r>
              <a:endParaRPr kumimoji="1"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l">
                <a:lnSpc>
                  <a:spcPct val="120000"/>
                </a:lnSpc>
              </a:pPr>
              <a:r>
                <a:rPr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→</a:t>
              </a:r>
              <a:r>
                <a:rPr lang="en-US" altLang="ja-JP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100ms</a:t>
              </a:r>
              <a:r>
                <a:rPr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周期未達時の対応</a:t>
              </a:r>
              <a:endPara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73E2470-346A-2E83-BCF0-8B4F7BA29CB5}"/>
                </a:ext>
              </a:extLst>
            </p:cNvPr>
            <p:cNvSpPr txBox="1"/>
            <p:nvPr/>
          </p:nvSpPr>
          <p:spPr>
            <a:xfrm>
              <a:off x="3081391" y="4741087"/>
              <a:ext cx="2031325" cy="37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【</a:t>
              </a:r>
              <a:r>
                <a:rPr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今回の検討事項</a:t>
              </a:r>
              <a:r>
                <a:rPr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】</a:t>
              </a:r>
              <a:endPara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EA6550AF-F347-04CD-8A53-2B4B346E8F29}"/>
              </a:ext>
            </a:extLst>
          </p:cNvPr>
          <p:cNvGraphicFramePr>
            <a:graphicFrameLocks noGrp="1"/>
          </p:cNvGraphicFramePr>
          <p:nvPr/>
        </p:nvGraphicFramePr>
        <p:xfrm>
          <a:off x="90147" y="563624"/>
          <a:ext cx="12011704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749">
                  <a:extLst>
                    <a:ext uri="{9D8B030D-6E8A-4147-A177-3AD203B41FA5}">
                      <a16:colId xmlns:a16="http://schemas.microsoft.com/office/drawing/2014/main" val="1017682241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94034971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2459136409"/>
                    </a:ext>
                  </a:extLst>
                </a:gridCol>
                <a:gridCol w="3763985">
                  <a:extLst>
                    <a:ext uri="{9D8B030D-6E8A-4147-A177-3AD203B41FA5}">
                      <a16:colId xmlns:a16="http://schemas.microsoft.com/office/drawing/2014/main" val="3298351793"/>
                    </a:ext>
                  </a:extLst>
                </a:gridCol>
              </a:tblGrid>
              <a:tr h="197220">
                <a:tc>
                  <a:txBody>
                    <a:bodyPr/>
                    <a:lstStyle/>
                    <a:p>
                      <a:pPr algn="ctr"/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ECU-A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ECU-B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認識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ECU-C</a:t>
                      </a:r>
                      <a:endParaRPr kumimoji="1" lang="ja-JP" altLang="en-US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3684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機能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②画像前処理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画像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/CAN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？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②物標認識 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③物標追跡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Topic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(CAN/GNSS/IMU?)</a:t>
                      </a:r>
                    </a:p>
                    <a:p>
                      <a:pPr algn="l"/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②座標変換情報作成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2851"/>
                  </a:ext>
                </a:extLst>
              </a:tr>
              <a:tr h="72797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入力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②前処理後画像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③自車移動情報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(CAN/</a:t>
                      </a: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座標変換情報</a:t>
                      </a:r>
                      <a:r>
                        <a:rPr kumimoji="1" lang="en-US" altLang="ja-JP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b="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④座標変換情報</a:t>
                      </a:r>
                      <a:endParaRPr kumimoji="1" lang="en-US" altLang="ja-JP" sz="1600" b="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GNSS/IMU?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78083"/>
                  </a:ext>
                </a:extLst>
              </a:tr>
              <a:tr h="3998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出力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①前処理後画像</a:t>
                      </a:r>
                      <a:r>
                        <a:rPr kumimoji="1" lang="en-US" altLang="ja-JP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×4</a:t>
                      </a:r>
                      <a:endParaRPr kumimoji="1" lang="ja-JP" altLang="en-US" sz="2400" b="1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①物標情報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①座標変換情報</a:t>
                      </a:r>
                      <a:endParaRPr kumimoji="1" lang="en-US" altLang="ja-JP" sz="16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pPr algn="l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②</a:t>
                      </a:r>
                      <a:r>
                        <a:rPr kumimoji="1" lang="en-US" altLang="ja-JP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CAN?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46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741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D89532-2B58-F7C2-3E6D-524310BCF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 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今後検討する内容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D1FC52A-93D9-2CF0-66D4-861B2613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79B39B-7463-4B13-5CF7-662AF8C350CB}"/>
              </a:ext>
            </a:extLst>
          </p:cNvPr>
          <p:cNvSpPr txBox="1"/>
          <p:nvPr/>
        </p:nvSpPr>
        <p:spPr>
          <a:xfrm>
            <a:off x="0" y="712508"/>
            <a:ext cx="12394740" cy="303403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今後議論する内容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l">
              <a:lnSpc>
                <a:spcPct val="120000"/>
              </a:lnSpc>
            </a:pP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TF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に入力する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情報は、速度と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ヨーレート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セットになったトピック。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header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の時間はどっちにするかを決める必要あり。←今後決める。今回は全体像でいい。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→速度は減速度を仮にスマアシの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1G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とすると、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20ms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間の誤差は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1.96cm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であり、ほぼ誤差のため、ヨーレートの最新値に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 合わせる。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TF=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自己位置と今回は同義。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自己位置の入力の精度を決める必要がある。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→そもそもの物標認識の精度も決める必要がある。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534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14DFE2-EE74-BDD0-D234-16588D43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BF175-22DB-0870-FD8A-55547CBDB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周辺認識機能の全体像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1C99887-BD20-B3CD-1FA3-3391954F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22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9F0ACDB-0EEA-E895-087C-CC22207CBFD2}"/>
              </a:ext>
            </a:extLst>
          </p:cNvPr>
          <p:cNvSpPr txBox="1"/>
          <p:nvPr/>
        </p:nvSpPr>
        <p:spPr>
          <a:xfrm>
            <a:off x="0" y="469100"/>
            <a:ext cx="1217371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周辺認識機能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 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学習ベース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2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1600" b="1" dirty="0" err="1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Autoware</a:t>
            </a:r>
            <a:r>
              <a:rPr lang="ja-JP" altLang="en-US" sz="1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9F00067-4E02-424C-AC3B-9E3D463E88B0}"/>
              </a:ext>
            </a:extLst>
          </p:cNvPr>
          <p:cNvSpPr/>
          <p:nvPr/>
        </p:nvSpPr>
        <p:spPr>
          <a:xfrm>
            <a:off x="1888459" y="1286192"/>
            <a:ext cx="180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物標認識機能</a:t>
            </a:r>
            <a:endParaRPr kumimoji="1"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7C896B3-D8B4-9D44-8678-76943D71FE19}"/>
              </a:ext>
            </a:extLst>
          </p:cNvPr>
          <p:cNvSpPr/>
          <p:nvPr/>
        </p:nvSpPr>
        <p:spPr>
          <a:xfrm>
            <a:off x="6566263" y="1286192"/>
            <a:ext cx="1800000" cy="719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</a:t>
            </a:r>
            <a:endParaRPr lang="en-US" altLang="ja-JP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E04A8C26-3D03-28C2-B8EB-F843B5B6BC0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8366263" y="1646191"/>
            <a:ext cx="340739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4FC6DB3B-7F1E-9001-69D5-C8D206922143}"/>
              </a:ext>
            </a:extLst>
          </p:cNvPr>
          <p:cNvCxnSpPr>
            <a:cxnSpLocks/>
          </p:cNvCxnSpPr>
          <p:nvPr/>
        </p:nvCxnSpPr>
        <p:spPr>
          <a:xfrm>
            <a:off x="77077" y="1469809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2E97A4B-1D59-7862-69D3-0E48ACDE765B}"/>
              </a:ext>
            </a:extLst>
          </p:cNvPr>
          <p:cNvSpPr txBox="1"/>
          <p:nvPr/>
        </p:nvSpPr>
        <p:spPr>
          <a:xfrm>
            <a:off x="22242" y="1173447"/>
            <a:ext cx="1548822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時刻同期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×8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70E1F678-632A-39BD-A31B-597EE38F9EC7}"/>
              </a:ext>
            </a:extLst>
          </p:cNvPr>
          <p:cNvCxnSpPr>
            <a:cxnSpLocks/>
          </p:cNvCxnSpPr>
          <p:nvPr/>
        </p:nvCxnSpPr>
        <p:spPr>
          <a:xfrm>
            <a:off x="77077" y="1840033"/>
            <a:ext cx="18113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580E937-0C6E-B97E-E07B-72B8D7E72D51}"/>
              </a:ext>
            </a:extLst>
          </p:cNvPr>
          <p:cNvSpPr txBox="1"/>
          <p:nvPr/>
        </p:nvSpPr>
        <p:spPr>
          <a:xfrm>
            <a:off x="22242" y="1546089"/>
            <a:ext cx="1261884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自車移動情報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06419615-6424-4D62-CB17-1B4306B4D36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688459" y="1646192"/>
            <a:ext cx="28778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005513B-5A24-4621-6368-97DAAB59FC23}"/>
              </a:ext>
            </a:extLst>
          </p:cNvPr>
          <p:cNvSpPr txBox="1"/>
          <p:nvPr/>
        </p:nvSpPr>
        <p:spPr>
          <a:xfrm>
            <a:off x="3695956" y="1055563"/>
            <a:ext cx="2279791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B8AE9C9-4C57-82CF-EA94-D0F70D35B03F}"/>
              </a:ext>
            </a:extLst>
          </p:cNvPr>
          <p:cNvSpPr txBox="1"/>
          <p:nvPr/>
        </p:nvSpPr>
        <p:spPr>
          <a:xfrm>
            <a:off x="3688459" y="2135059"/>
            <a:ext cx="245451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座標変換情報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 →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</a:t>
            </a:r>
            <a:r>
              <a:rPr lang="ja-JP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0D6E9B6-5CFF-3E9E-FE67-87BAF2932074}"/>
              </a:ext>
            </a:extLst>
          </p:cNvPr>
          <p:cNvSpPr txBox="1"/>
          <p:nvPr/>
        </p:nvSpPr>
        <p:spPr>
          <a:xfrm>
            <a:off x="8377645" y="1105767"/>
            <a:ext cx="2728632" cy="57060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地図座標系の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物標情報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大きさ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クラス分類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D918DB12-2983-3B95-881F-317E84B6FDA6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695956" y="2006189"/>
            <a:ext cx="3770307" cy="6520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7F2B44-B52F-58A8-FCAD-C6F712D746B3}"/>
              </a:ext>
            </a:extLst>
          </p:cNvPr>
          <p:cNvSpPr txBox="1"/>
          <p:nvPr/>
        </p:nvSpPr>
        <p:spPr>
          <a:xfrm>
            <a:off x="0" y="2896329"/>
            <a:ext cx="2954655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物標追跡機能の処理概要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216DAC2-8519-06C3-168E-746C564B3BE2}"/>
              </a:ext>
            </a:extLst>
          </p:cNvPr>
          <p:cNvSpPr/>
          <p:nvPr/>
        </p:nvSpPr>
        <p:spPr>
          <a:xfrm>
            <a:off x="77078" y="1134046"/>
            <a:ext cx="11696584" cy="882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5249C66B-265D-009D-8FEB-3D36D326F18B}"/>
              </a:ext>
            </a:extLst>
          </p:cNvPr>
          <p:cNvSpPr/>
          <p:nvPr/>
        </p:nvSpPr>
        <p:spPr>
          <a:xfrm>
            <a:off x="3695956" y="2004256"/>
            <a:ext cx="3924044" cy="7960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8375EF-87CA-0BFB-72E1-BAE228986774}"/>
              </a:ext>
            </a:extLst>
          </p:cNvPr>
          <p:cNvSpPr txBox="1"/>
          <p:nvPr/>
        </p:nvSpPr>
        <p:spPr>
          <a:xfrm>
            <a:off x="153277" y="3303498"/>
            <a:ext cx="4493538" cy="46910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地図座標系で物標追跡を実施</a:t>
            </a:r>
            <a:r>
              <a:rPr kumimoji="1" lang="en-US" altLang="ja-JP" sz="2400" b="1" baseline="30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endParaRPr kumimoji="1" lang="ja-JP" altLang="en-US" sz="2400" b="1" baseline="30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CFB5399-2278-7EA3-30D7-AFBD2B006090}"/>
              </a:ext>
            </a:extLst>
          </p:cNvPr>
          <p:cNvSpPr txBox="1"/>
          <p:nvPr/>
        </p:nvSpPr>
        <p:spPr>
          <a:xfrm>
            <a:off x="8366263" y="4917643"/>
            <a:ext cx="3919663" cy="91230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→ 地図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座標系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への</a:t>
            </a:r>
            <a:endParaRPr kumimoji="1" lang="en-US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変換情報が必要</a:t>
            </a:r>
            <a:endParaRPr kumimoji="1" lang="ja-JP" altLang="en-US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330E1692-E0DD-5FAD-2F2C-6A8B567049AF}"/>
              </a:ext>
            </a:extLst>
          </p:cNvPr>
          <p:cNvSpPr/>
          <p:nvPr/>
        </p:nvSpPr>
        <p:spPr>
          <a:xfrm rot="5400000">
            <a:off x="7623759" y="5216965"/>
            <a:ext cx="725237" cy="313657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AF435CC-5F35-69A3-22B0-BFFD80860471}"/>
              </a:ext>
            </a:extLst>
          </p:cNvPr>
          <p:cNvSpPr txBox="1"/>
          <p:nvPr/>
        </p:nvSpPr>
        <p:spPr>
          <a:xfrm>
            <a:off x="9121324" y="3632242"/>
            <a:ext cx="3078087" cy="2807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各時刻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で共通の座標系で処理をするため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A9092D4-693D-0C96-BD56-30511CD9145F}"/>
              </a:ext>
            </a:extLst>
          </p:cNvPr>
          <p:cNvSpPr/>
          <p:nvPr/>
        </p:nvSpPr>
        <p:spPr>
          <a:xfrm>
            <a:off x="228600" y="3968367"/>
            <a:ext cx="3600000" cy="64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自車座標系</a:t>
            </a:r>
            <a:endParaRPr kumimoji="1" lang="en-US" altLang="ja-JP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US" altLang="ja-JP" b="1" dirty="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base_link</a:t>
            </a:r>
            <a:r>
              <a:rPr lang="en-US" altLang="ja-JP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303A25A-C9CB-EF89-9E97-E3AAA728132C}"/>
              </a:ext>
            </a:extLst>
          </p:cNvPr>
          <p:cNvSpPr/>
          <p:nvPr/>
        </p:nvSpPr>
        <p:spPr>
          <a:xfrm>
            <a:off x="3963445" y="3968367"/>
            <a:ext cx="3600000" cy="64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地図座標系</a:t>
            </a:r>
            <a:endParaRPr kumimoji="1" lang="en-US" altLang="ja-JP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(map)</a:t>
            </a:r>
            <a:endParaRPr kumimoji="1" lang="ja-JP" altLang="en-US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4D38477-4CDF-CC9D-8B47-69D48337863F}"/>
              </a:ext>
            </a:extLst>
          </p:cNvPr>
          <p:cNvSpPr/>
          <p:nvPr/>
        </p:nvSpPr>
        <p:spPr>
          <a:xfrm>
            <a:off x="228600" y="4616367"/>
            <a:ext cx="3600000" cy="2155907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826BC2F-47A8-B4D5-0CF8-E12C5BF6359A}"/>
              </a:ext>
            </a:extLst>
          </p:cNvPr>
          <p:cNvSpPr/>
          <p:nvPr/>
        </p:nvSpPr>
        <p:spPr>
          <a:xfrm>
            <a:off x="3963445" y="4616367"/>
            <a:ext cx="3600000" cy="2155907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5627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8A23F-C395-CA19-A744-48BEB8E07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448904-B503-50BE-5AEC-4A2F97A2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"/>
            <a:ext cx="10515600" cy="469104"/>
          </a:xfrm>
        </p:spPr>
        <p:txBody>
          <a:bodyPr/>
          <a:lstStyle/>
          <a:p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3-1. 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同期方法の設計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51758B8-96B1-9CBE-9107-CD01B8ECA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23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6BE69CD-FF77-316D-239C-8757F026CBF6}"/>
              </a:ext>
            </a:extLst>
          </p:cNvPr>
          <p:cNvSpPr txBox="1"/>
          <p:nvPr/>
        </p:nvSpPr>
        <p:spPr>
          <a:xfrm>
            <a:off x="0" y="469104"/>
            <a:ext cx="3475631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枚を同期受信する方法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6AA449D-057D-9505-9EB7-F8C1E3C85641}"/>
              </a:ext>
            </a:extLst>
          </p:cNvPr>
          <p:cNvSpPr txBox="1"/>
          <p:nvPr/>
        </p:nvSpPr>
        <p:spPr>
          <a:xfrm>
            <a:off x="252550" y="903372"/>
            <a:ext cx="7100021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ROS2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の「</a:t>
            </a:r>
            <a:r>
              <a:rPr kumimoji="1" lang="en-US" altLang="ja-JP" b="1" u="sng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ApproximateTimeSynchronizer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」機能を使用する。</a:t>
            </a:r>
            <a:endParaRPr kumimoji="1" lang="en-US" altLang="ja-JP" b="1" u="sng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82E7023-01CF-38F0-E62F-2C25D673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50" y="1313054"/>
            <a:ext cx="6830378" cy="2572109"/>
          </a:xfrm>
          <a:prstGeom prst="rect">
            <a:avLst/>
          </a:prstGeom>
        </p:spPr>
      </p:pic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615E4C3D-598D-86C0-6135-CB662882EE31}"/>
              </a:ext>
            </a:extLst>
          </p:cNvPr>
          <p:cNvSpPr/>
          <p:nvPr/>
        </p:nvSpPr>
        <p:spPr>
          <a:xfrm>
            <a:off x="7230052" y="2281646"/>
            <a:ext cx="4943660" cy="1445622"/>
          </a:xfrm>
          <a:prstGeom prst="wedgeRectCallout">
            <a:avLst>
              <a:gd name="adj1" fmla="val -57855"/>
              <a:gd name="adj2" fmla="val 594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から受信した</a:t>
            </a:r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メッセージに記録された時刻情報</a:t>
            </a:r>
            <a:r>
              <a:rPr kumimoji="1"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US" altLang="ja-JP" sz="16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header.stamp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を基準に、設定した許容時間差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(slop)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以内のメッセージを同期し、コールバック関数へ渡す。同期候補のメッセージは、</a:t>
            </a:r>
            <a:r>
              <a:rPr lang="en-US" altLang="ja-JP" sz="16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queue_size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で指定した数だけ一時保持し、使用後は削除される。</a:t>
            </a:r>
            <a:endParaRPr kumimoji="1" lang="ja-JP" altLang="en-US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9D0C91C-AE3F-7758-BB45-5AF04748932C}"/>
              </a:ext>
            </a:extLst>
          </p:cNvPr>
          <p:cNvCxnSpPr/>
          <p:nvPr/>
        </p:nvCxnSpPr>
        <p:spPr>
          <a:xfrm>
            <a:off x="3997234" y="1645453"/>
            <a:ext cx="25167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A613AF37-D715-A385-8330-627DBFF37C62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5246098" y="1809002"/>
            <a:ext cx="198395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FB3B1EB1-0B65-4988-8CC9-1DA6751F20B4}"/>
              </a:ext>
            </a:extLst>
          </p:cNvPr>
          <p:cNvCxnSpPr>
            <a:cxnSpLocks/>
          </p:cNvCxnSpPr>
          <p:nvPr/>
        </p:nvCxnSpPr>
        <p:spPr>
          <a:xfrm flipV="1">
            <a:off x="5255622" y="1645453"/>
            <a:ext cx="0" cy="1659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DECB95C-595A-C613-FE8E-FB25A911C99B}"/>
              </a:ext>
            </a:extLst>
          </p:cNvPr>
          <p:cNvSpPr txBox="1"/>
          <p:nvPr/>
        </p:nvSpPr>
        <p:spPr>
          <a:xfrm>
            <a:off x="7220528" y="1371798"/>
            <a:ext cx="4503156" cy="87440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fs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：同期対象の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subscriber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のリスト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([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sub, 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sub])</a:t>
            </a:r>
          </a:p>
          <a:p>
            <a:pPr algn="l">
              <a:lnSpc>
                <a:spcPct val="120000"/>
              </a:lnSpc>
            </a:pPr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kumimoji="1"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queue_size</a:t>
            </a:r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同期候補として一時保持するメッセージ数の上限</a:t>
            </a:r>
            <a:endParaRPr kumimoji="1" lang="en-US" altLang="ja-JP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slop: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同期を許容するタイムスタンプの時間差</a:t>
            </a:r>
            <a:endParaRPr lang="en-US" altLang="ja-JP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allow_headerless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header.stamp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無しを同期対象とするか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8D529D2-A405-0DA2-44BB-B9F588C1366E}"/>
              </a:ext>
            </a:extLst>
          </p:cNvPr>
          <p:cNvSpPr/>
          <p:nvPr/>
        </p:nvSpPr>
        <p:spPr>
          <a:xfrm>
            <a:off x="7230052" y="1394460"/>
            <a:ext cx="4943660" cy="848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4853963-2A50-FEA8-B394-0A1B9FE6B7CE}"/>
              </a:ext>
            </a:extLst>
          </p:cNvPr>
          <p:cNvSpPr txBox="1"/>
          <p:nvPr/>
        </p:nvSpPr>
        <p:spPr>
          <a:xfrm>
            <a:off x="0" y="4107422"/>
            <a:ext cx="3602268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情報を時刻同期する方法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91AA023-56A4-8AF9-AA75-6353851FC2FD}"/>
              </a:ext>
            </a:extLst>
          </p:cNvPr>
          <p:cNvSpPr txBox="1"/>
          <p:nvPr/>
        </p:nvSpPr>
        <p:spPr>
          <a:xfrm>
            <a:off x="328750" y="4499243"/>
            <a:ext cx="10128094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T-1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以前の最新</a:t>
            </a:r>
            <a:r>
              <a:rPr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</a:t>
            </a:r>
            <a:r>
              <a:rPr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速度とヨーレート</a:t>
            </a:r>
            <a:r>
              <a:rPr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以前の最新</a:t>
            </a:r>
            <a:r>
              <a:rPr kumimoji="1"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データを使用する。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3CC845DB-15C8-C4E4-3909-0921DC471C96}"/>
              </a:ext>
            </a:extLst>
          </p:cNvPr>
          <p:cNvCxnSpPr>
            <a:cxnSpLocks/>
          </p:cNvCxnSpPr>
          <p:nvPr/>
        </p:nvCxnSpPr>
        <p:spPr>
          <a:xfrm>
            <a:off x="428625" y="5552097"/>
            <a:ext cx="104489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DB62383-C689-900B-1993-DCEBE28471DE}"/>
              </a:ext>
            </a:extLst>
          </p:cNvPr>
          <p:cNvSpPr txBox="1"/>
          <p:nvPr/>
        </p:nvSpPr>
        <p:spPr>
          <a:xfrm>
            <a:off x="8157960" y="5588345"/>
            <a:ext cx="2690160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ECU-B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のデータ受信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</a:t>
            </a:r>
            <a:r>
              <a:rPr kumimoji="1" lang="en-US" altLang="ja-JP" sz="14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ms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B1B0CB54-6EA3-C838-158E-C1AF44363C73}"/>
              </a:ext>
            </a:extLst>
          </p:cNvPr>
          <p:cNvCxnSpPr>
            <a:cxnSpLocks/>
          </p:cNvCxnSpPr>
          <p:nvPr/>
        </p:nvCxnSpPr>
        <p:spPr>
          <a:xfrm>
            <a:off x="7082928" y="5282097"/>
            <a:ext cx="0" cy="54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A8B2A320-A9F5-74BE-F62C-2D447A096267}"/>
              </a:ext>
            </a:extLst>
          </p:cNvPr>
          <p:cNvCxnSpPr>
            <a:cxnSpLocks/>
          </p:cNvCxnSpPr>
          <p:nvPr/>
        </p:nvCxnSpPr>
        <p:spPr>
          <a:xfrm>
            <a:off x="2110878" y="5282097"/>
            <a:ext cx="0" cy="54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71B4066A-5860-04C0-8AC8-C3C5E0E957F2}"/>
              </a:ext>
            </a:extLst>
          </p:cNvPr>
          <p:cNvSpPr txBox="1"/>
          <p:nvPr/>
        </p:nvSpPr>
        <p:spPr>
          <a:xfrm>
            <a:off x="6748541" y="5911838"/>
            <a:ext cx="668773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endParaRPr kumimoji="1" lang="ja-JP" altLang="en-US" sz="14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412D7E1C-CA91-36D5-4515-3C098B61489D}"/>
              </a:ext>
            </a:extLst>
          </p:cNvPr>
          <p:cNvSpPr txBox="1"/>
          <p:nvPr/>
        </p:nvSpPr>
        <p:spPr>
          <a:xfrm>
            <a:off x="1676303" y="5826128"/>
            <a:ext cx="86914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T-1</a:t>
            </a:r>
            <a:endParaRPr kumimoji="1" lang="ja-JP" altLang="en-US" sz="14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05723C4-1A88-C7F1-D309-AE8C660E21B3}"/>
              </a:ext>
            </a:extLst>
          </p:cNvPr>
          <p:cNvSpPr txBox="1"/>
          <p:nvPr/>
        </p:nvSpPr>
        <p:spPr>
          <a:xfrm>
            <a:off x="1839007" y="4951570"/>
            <a:ext cx="54373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91294DF-863F-C4AF-DF7A-50801B9BBD7F}"/>
              </a:ext>
            </a:extLst>
          </p:cNvPr>
          <p:cNvSpPr txBox="1"/>
          <p:nvPr/>
        </p:nvSpPr>
        <p:spPr>
          <a:xfrm>
            <a:off x="6808832" y="4951570"/>
            <a:ext cx="54373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E643543D-11E1-5E41-03EF-6C55D88553F6}"/>
              </a:ext>
            </a:extLst>
          </p:cNvPr>
          <p:cNvGrpSpPr/>
          <p:nvPr/>
        </p:nvGrpSpPr>
        <p:grpSpPr>
          <a:xfrm>
            <a:off x="723900" y="5282097"/>
            <a:ext cx="6717305" cy="540000"/>
            <a:chOff x="723900" y="5282097"/>
            <a:chExt cx="6717305" cy="540000"/>
          </a:xfrm>
        </p:grpSpPr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3E648154-FC5C-47D7-BDDC-6629EE8E7950}"/>
                </a:ext>
              </a:extLst>
            </p:cNvPr>
            <p:cNvCxnSpPr>
              <a:cxnSpLocks/>
            </p:cNvCxnSpPr>
            <p:nvPr/>
          </p:nvCxnSpPr>
          <p:spPr>
            <a:xfrm>
              <a:off x="723900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74E66603-140D-5AE7-B66D-AFE57470816D}"/>
                </a:ext>
              </a:extLst>
            </p:cNvPr>
            <p:cNvCxnSpPr>
              <a:cxnSpLocks/>
            </p:cNvCxnSpPr>
            <p:nvPr/>
          </p:nvCxnSpPr>
          <p:spPr>
            <a:xfrm>
              <a:off x="1470267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EEE5C334-3415-8654-EB9C-FA49BA8E1FEF}"/>
                </a:ext>
              </a:extLst>
            </p:cNvPr>
            <p:cNvCxnSpPr>
              <a:cxnSpLocks/>
            </p:cNvCxnSpPr>
            <p:nvPr/>
          </p:nvCxnSpPr>
          <p:spPr>
            <a:xfrm>
              <a:off x="2216634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6CD8F7BD-EC0B-0769-CE43-465C982A2FA3}"/>
                </a:ext>
              </a:extLst>
            </p:cNvPr>
            <p:cNvCxnSpPr>
              <a:cxnSpLocks/>
            </p:cNvCxnSpPr>
            <p:nvPr/>
          </p:nvCxnSpPr>
          <p:spPr>
            <a:xfrm>
              <a:off x="2963001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D8BDC380-C051-0172-3769-28E82D043C91}"/>
                </a:ext>
              </a:extLst>
            </p:cNvPr>
            <p:cNvCxnSpPr>
              <a:cxnSpLocks/>
            </p:cNvCxnSpPr>
            <p:nvPr/>
          </p:nvCxnSpPr>
          <p:spPr>
            <a:xfrm>
              <a:off x="3709368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87C17839-DAD2-1B5C-09EE-A43783D5305D}"/>
                </a:ext>
              </a:extLst>
            </p:cNvPr>
            <p:cNvCxnSpPr>
              <a:cxnSpLocks/>
            </p:cNvCxnSpPr>
            <p:nvPr/>
          </p:nvCxnSpPr>
          <p:spPr>
            <a:xfrm>
              <a:off x="4455735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EDCE8A09-991E-9969-ADBA-F4832AFC54EA}"/>
                </a:ext>
              </a:extLst>
            </p:cNvPr>
            <p:cNvCxnSpPr>
              <a:cxnSpLocks/>
            </p:cNvCxnSpPr>
            <p:nvPr/>
          </p:nvCxnSpPr>
          <p:spPr>
            <a:xfrm>
              <a:off x="5202102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8FE9601A-0618-9F80-B830-730F7C135ABB}"/>
                </a:ext>
              </a:extLst>
            </p:cNvPr>
            <p:cNvCxnSpPr>
              <a:cxnSpLocks/>
            </p:cNvCxnSpPr>
            <p:nvPr/>
          </p:nvCxnSpPr>
          <p:spPr>
            <a:xfrm>
              <a:off x="5948469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D7ABF085-9616-98E6-60CC-C6ACDEE57678}"/>
                </a:ext>
              </a:extLst>
            </p:cNvPr>
            <p:cNvCxnSpPr>
              <a:cxnSpLocks/>
            </p:cNvCxnSpPr>
            <p:nvPr/>
          </p:nvCxnSpPr>
          <p:spPr>
            <a:xfrm>
              <a:off x="6694836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B91292D0-2F42-D479-B27A-9B0FBD27FD5F}"/>
                </a:ext>
              </a:extLst>
            </p:cNvPr>
            <p:cNvCxnSpPr>
              <a:cxnSpLocks/>
            </p:cNvCxnSpPr>
            <p:nvPr/>
          </p:nvCxnSpPr>
          <p:spPr>
            <a:xfrm>
              <a:off x="7441205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00AC448C-E537-9880-0F31-61F11BF4F135}"/>
              </a:ext>
            </a:extLst>
          </p:cNvPr>
          <p:cNvSpPr txBox="1"/>
          <p:nvPr/>
        </p:nvSpPr>
        <p:spPr>
          <a:xfrm>
            <a:off x="1157451" y="4951570"/>
            <a:ext cx="54373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</a:p>
        </p:txBody>
      </p: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BBD866FC-AA3F-C60B-C07E-0F68B4B1B3CA}"/>
              </a:ext>
            </a:extLst>
          </p:cNvPr>
          <p:cNvGrpSpPr/>
          <p:nvPr/>
        </p:nvGrpSpPr>
        <p:grpSpPr>
          <a:xfrm>
            <a:off x="954823" y="5282097"/>
            <a:ext cx="6717305" cy="540000"/>
            <a:chOff x="723900" y="5282097"/>
            <a:chExt cx="6717305" cy="540000"/>
          </a:xfrm>
        </p:grpSpPr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7F6BEE58-C2DF-49FE-0245-B74DB9B6C416}"/>
                </a:ext>
              </a:extLst>
            </p:cNvPr>
            <p:cNvCxnSpPr>
              <a:cxnSpLocks/>
            </p:cNvCxnSpPr>
            <p:nvPr/>
          </p:nvCxnSpPr>
          <p:spPr>
            <a:xfrm>
              <a:off x="723900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BA1BAA45-CDA2-4395-01B2-ABA5141817F4}"/>
                </a:ext>
              </a:extLst>
            </p:cNvPr>
            <p:cNvCxnSpPr>
              <a:cxnSpLocks/>
            </p:cNvCxnSpPr>
            <p:nvPr/>
          </p:nvCxnSpPr>
          <p:spPr>
            <a:xfrm>
              <a:off x="1470267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E376FECD-8B42-9D33-EE94-B45C1EBA9D61}"/>
                </a:ext>
              </a:extLst>
            </p:cNvPr>
            <p:cNvCxnSpPr>
              <a:cxnSpLocks/>
            </p:cNvCxnSpPr>
            <p:nvPr/>
          </p:nvCxnSpPr>
          <p:spPr>
            <a:xfrm>
              <a:off x="2216634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A6D71659-C12D-FC21-306A-E773031C86EB}"/>
                </a:ext>
              </a:extLst>
            </p:cNvPr>
            <p:cNvCxnSpPr>
              <a:cxnSpLocks/>
            </p:cNvCxnSpPr>
            <p:nvPr/>
          </p:nvCxnSpPr>
          <p:spPr>
            <a:xfrm>
              <a:off x="2963001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EF74CCD5-9ECB-B0A5-9D9E-671D7A5BA30A}"/>
                </a:ext>
              </a:extLst>
            </p:cNvPr>
            <p:cNvCxnSpPr>
              <a:cxnSpLocks/>
            </p:cNvCxnSpPr>
            <p:nvPr/>
          </p:nvCxnSpPr>
          <p:spPr>
            <a:xfrm>
              <a:off x="3709368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B1CFD11A-0822-6E9B-07F9-06E284D51521}"/>
                </a:ext>
              </a:extLst>
            </p:cNvPr>
            <p:cNvCxnSpPr>
              <a:cxnSpLocks/>
            </p:cNvCxnSpPr>
            <p:nvPr/>
          </p:nvCxnSpPr>
          <p:spPr>
            <a:xfrm>
              <a:off x="4455735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0D8D4DB4-DDAC-2A9A-02A4-C36B361AF3BC}"/>
                </a:ext>
              </a:extLst>
            </p:cNvPr>
            <p:cNvCxnSpPr>
              <a:cxnSpLocks/>
            </p:cNvCxnSpPr>
            <p:nvPr/>
          </p:nvCxnSpPr>
          <p:spPr>
            <a:xfrm>
              <a:off x="5202102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97BAF9E1-DB69-5DD9-0BC7-27BF01212886}"/>
                </a:ext>
              </a:extLst>
            </p:cNvPr>
            <p:cNvCxnSpPr>
              <a:cxnSpLocks/>
            </p:cNvCxnSpPr>
            <p:nvPr/>
          </p:nvCxnSpPr>
          <p:spPr>
            <a:xfrm>
              <a:off x="5948469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69EB2684-A38B-A740-F1D5-C2B5C21AF03C}"/>
                </a:ext>
              </a:extLst>
            </p:cNvPr>
            <p:cNvCxnSpPr>
              <a:cxnSpLocks/>
            </p:cNvCxnSpPr>
            <p:nvPr/>
          </p:nvCxnSpPr>
          <p:spPr>
            <a:xfrm>
              <a:off x="6694836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0542AFA8-EE3B-A8AD-D22B-9216C92066FB}"/>
                </a:ext>
              </a:extLst>
            </p:cNvPr>
            <p:cNvCxnSpPr>
              <a:cxnSpLocks/>
            </p:cNvCxnSpPr>
            <p:nvPr/>
          </p:nvCxnSpPr>
          <p:spPr>
            <a:xfrm>
              <a:off x="7441205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56A9A973-0227-7C47-2586-5D9ADD7C653F}"/>
              </a:ext>
            </a:extLst>
          </p:cNvPr>
          <p:cNvSpPr txBox="1"/>
          <p:nvPr/>
        </p:nvSpPr>
        <p:spPr>
          <a:xfrm>
            <a:off x="694174" y="4951570"/>
            <a:ext cx="521297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solidFill>
                  <a:srgbClr val="00B0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ヨー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D74216BB-4B65-0025-1FC6-6DB7330CED80}"/>
              </a:ext>
            </a:extLst>
          </p:cNvPr>
          <p:cNvCxnSpPr>
            <a:cxnSpLocks/>
          </p:cNvCxnSpPr>
          <p:nvPr/>
        </p:nvCxnSpPr>
        <p:spPr>
          <a:xfrm>
            <a:off x="762000" y="4989152"/>
            <a:ext cx="0" cy="178350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D9B0E548-4B77-E5EE-3AE0-0B0425B4BBC9}"/>
              </a:ext>
            </a:extLst>
          </p:cNvPr>
          <p:cNvCxnSpPr>
            <a:cxnSpLocks/>
          </p:cNvCxnSpPr>
          <p:nvPr/>
        </p:nvCxnSpPr>
        <p:spPr>
          <a:xfrm>
            <a:off x="7352571" y="4942141"/>
            <a:ext cx="0" cy="187752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4A26C3B2-DE2B-933F-A954-11A01F52454E}"/>
              </a:ext>
            </a:extLst>
          </p:cNvPr>
          <p:cNvCxnSpPr/>
          <p:nvPr/>
        </p:nvCxnSpPr>
        <p:spPr>
          <a:xfrm>
            <a:off x="762000" y="6573782"/>
            <a:ext cx="6590571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7120D4A4-1A36-1AE9-C65E-8BA919ACF9FB}"/>
              </a:ext>
            </a:extLst>
          </p:cNvPr>
          <p:cNvSpPr txBox="1"/>
          <p:nvPr/>
        </p:nvSpPr>
        <p:spPr>
          <a:xfrm>
            <a:off x="694174" y="6234376"/>
            <a:ext cx="6904454" cy="3434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この区間の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情報を使用し、時刻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T-1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→時刻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の自車移動量を算出する</a:t>
            </a:r>
          </a:p>
        </p:txBody>
      </p:sp>
    </p:spTree>
    <p:extLst>
      <p:ext uri="{BB962C8B-B14F-4D97-AF65-F5344CB8AC3E}">
        <p14:creationId xmlns:p14="http://schemas.microsoft.com/office/powerpoint/2010/main" val="1860528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86CF9-A698-B844-89FD-3D750FA45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90DDB8-D8C5-963F-F9D6-57D7A959F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3-2. </a:t>
            </a:r>
            <a:r>
              <a:rPr lang="en-US" altLang="ja-JP" dirty="0"/>
              <a:t>AUTERA</a:t>
            </a:r>
            <a:r>
              <a:rPr lang="ja-JP" altLang="en-US" dirty="0"/>
              <a:t>からのデータを</a:t>
            </a:r>
            <a:r>
              <a:rPr lang="en-US" altLang="ja-JP" dirty="0"/>
              <a:t>Topic</a:t>
            </a:r>
            <a:r>
              <a:rPr lang="ja-JP" altLang="en-US" dirty="0"/>
              <a:t>で送信する方法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39BC58B-FC2E-12A7-12BD-1AC9EECE8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24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52EF3A6-2D1E-E55E-EE35-51CEB4DAB760}"/>
              </a:ext>
            </a:extLst>
          </p:cNvPr>
          <p:cNvSpPr txBox="1"/>
          <p:nvPr/>
        </p:nvSpPr>
        <p:spPr>
          <a:xfrm>
            <a:off x="0" y="469104"/>
            <a:ext cx="1253901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AUTERAからのデータ受信を検知したタイミングで受信データをROSメッセージへ変換し、対応するTopicへ送信する。</a:t>
            </a:r>
            <a:endParaRPr kumimoji="1" lang="ja-JP" altLang="en-US" b="1" u="sng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29E9F41-9D6E-9581-49E1-098DFD100B63}"/>
              </a:ext>
            </a:extLst>
          </p:cNvPr>
          <p:cNvSpPr/>
          <p:nvPr/>
        </p:nvSpPr>
        <p:spPr>
          <a:xfrm>
            <a:off x="85725" y="1307540"/>
            <a:ext cx="9115426" cy="36037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 ROS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ノード動作中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endParaRPr lang="en-US" altLang="ja-JP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if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データ受信を検知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←検知方法の検討が必要</a:t>
            </a:r>
            <a:endParaRPr kumimoji="1" lang="en-US" altLang="ja-JP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</a:t>
            </a:r>
            <a:r>
              <a:rPr lang="en-US" altLang="ja-JP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receive_timestamp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= 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データ受信時刻を取得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 </a:t>
            </a: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data = 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受信データを取得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←取得方法の検討が必要</a:t>
            </a:r>
            <a:endParaRPr lang="en-US" altLang="ja-JP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前処理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(data)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←前処理方法の検討</a:t>
            </a:r>
            <a:r>
              <a:rPr lang="en-US" altLang="ja-JP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特に、</a:t>
            </a:r>
            <a:r>
              <a:rPr lang="en-US" altLang="ja-JP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YUV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画像の取り扱い方法の検討</a:t>
            </a:r>
            <a:r>
              <a:rPr lang="en-US" altLang="ja-JP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が必要</a:t>
            </a:r>
            <a:endParaRPr lang="en-US" altLang="ja-JP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5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msg = ROS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メッセージを作成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</a:t>
            </a: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</a:t>
            </a:r>
            <a:r>
              <a:rPr lang="en-US" altLang="ja-JP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msg.header.stamp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= </a:t>
            </a:r>
            <a:r>
              <a:rPr lang="en-US" altLang="ja-JP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receive_timestamp</a:t>
            </a:r>
            <a:endParaRPr lang="en-US" altLang="ja-JP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Topic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送信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848FECA-2313-3365-60B3-D62CE3929946}"/>
              </a:ext>
            </a:extLst>
          </p:cNvPr>
          <p:cNvSpPr txBox="1"/>
          <p:nvPr/>
        </p:nvSpPr>
        <p:spPr>
          <a:xfrm>
            <a:off x="0" y="838436"/>
            <a:ext cx="1712328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動作イメージ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125D33D-C84C-58D7-51C3-6821F7CA81A8}"/>
              </a:ext>
            </a:extLst>
          </p:cNvPr>
          <p:cNvSpPr txBox="1"/>
          <p:nvPr/>
        </p:nvSpPr>
        <p:spPr>
          <a:xfrm>
            <a:off x="0" y="4952990"/>
            <a:ext cx="1590500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送信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CFEB100-ED00-2817-7388-9CCBC0E605F7}"/>
              </a:ext>
            </a:extLst>
          </p:cNvPr>
          <p:cNvSpPr txBox="1"/>
          <p:nvPr/>
        </p:nvSpPr>
        <p:spPr>
          <a:xfrm>
            <a:off x="85725" y="5315272"/>
            <a:ext cx="5907386" cy="137204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ECU-A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の前処理後の画像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枚を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つにまとめた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</a:p>
          <a:p>
            <a:pPr algn="l">
              <a:lnSpc>
                <a:spcPct val="12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ECU-B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の前処理後の画像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枚を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つにまとめた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</a:p>
          <a:p>
            <a:pPr algn="l">
              <a:lnSpc>
                <a:spcPct val="12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③速度情報の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</a:p>
          <a:p>
            <a:pPr algn="l">
              <a:lnSpc>
                <a:spcPct val="12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ヨーレート情報の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3737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 kumimoji="1" b="1" dirty="0" smtClean="0">
            <a:solidFill>
              <a:schemeClr val="tx1"/>
            </a:solidFill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rtlCol="0">
        <a:spAutoFit/>
      </a:bodyPr>
      <a:lstStyle>
        <a:defPPr algn="l">
          <a:lnSpc>
            <a:spcPct val="120000"/>
          </a:lnSpc>
          <a:defRPr dirty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11841</TotalTime>
  <Words>3144</Words>
  <Application>Microsoft Office PowerPoint</Application>
  <PresentationFormat>ワイド画面</PresentationFormat>
  <Paragraphs>552</Paragraphs>
  <Slides>24</Slides>
  <Notes>0</Notes>
  <HiddenSlides>2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30" baseType="lpstr">
      <vt:lpstr>BIZ UDPゴシック</vt:lpstr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報告内容</vt:lpstr>
      <vt:lpstr>報告内容</vt:lpstr>
      <vt:lpstr>1. 周辺認識機能の全体像</vt:lpstr>
      <vt:lpstr>1. 周辺認識機能の全体像</vt:lpstr>
      <vt:lpstr>1. 周辺認識機能の全体像</vt:lpstr>
      <vt:lpstr>1. 周辺認識機能の全体像</vt:lpstr>
      <vt:lpstr>報告内容</vt:lpstr>
      <vt:lpstr>2-1. 認識ECUでの機能配置(周辺認識機能に限定) </vt:lpstr>
      <vt:lpstr>2-1. 認識ECUでの機能配置(周辺認識機能に限定) </vt:lpstr>
      <vt:lpstr>2-1. 認識ECUでの機能配置(周辺認識機能に限定) </vt:lpstr>
      <vt:lpstr>2-1. 認識ECUでの機能配置(周辺認識機能に限定) </vt:lpstr>
      <vt:lpstr>2-1. 認識ECUでの機能配置(周辺認識機能に限定) </vt:lpstr>
      <vt:lpstr>2-1. 認識ECUでの機能配置(周辺認識機能に限定) </vt:lpstr>
      <vt:lpstr>報告内容</vt:lpstr>
      <vt:lpstr>2-2. 画像×8の同期処理方法</vt:lpstr>
      <vt:lpstr>2-2. 画像×8の同期処理方法</vt:lpstr>
      <vt:lpstr>報告内容</vt:lpstr>
      <vt:lpstr>3. 次回以降の検討事項 </vt:lpstr>
      <vt:lpstr>2-1. 認識ECUでの機能配置(周辺認識機能に限定) </vt:lpstr>
      <vt:lpstr>3. 今後検討する内容</vt:lpstr>
      <vt:lpstr>1. 周辺認識機能の全体像</vt:lpstr>
      <vt:lpstr>3-1. 同期方法の設計</vt:lpstr>
      <vt:lpstr>3-2. AUTERAからのデータをTopicで送信する方法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Tanaka, Shiho/田中　志歩</dc:creator>
  <cp:lastModifiedBy>健太 松村</cp:lastModifiedBy>
  <cp:revision>280</cp:revision>
  <dcterms:created xsi:type="dcterms:W3CDTF">2025-03-07T05:28:15Z</dcterms:created>
  <dcterms:modified xsi:type="dcterms:W3CDTF">2026-10-11T14:35:59Z</dcterms:modified>
</cp:coreProperties>
</file>