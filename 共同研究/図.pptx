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4B19A-1AE5-6F41-52DF-87E34CB62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904F0A-1A38-FC73-20DB-ED7FC6662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3DADD5-8A7E-836B-9C64-A31AF2C8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464321-4982-8AA6-6EEF-1C329CFA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2114AA-00A9-D8DC-8F07-22589C4F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836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71D23-7741-6C39-6D34-FF54AB92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493966-67D8-4597-362E-2AA956C92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00EF1E-1340-BD80-EBD2-E08B0C3C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83847E-77BB-9D18-310F-086002728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BB6857-C254-6177-6994-85C7CA6C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77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A287D-C45B-8BF6-4F6A-98A42C41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10B4C3-6A27-8CCA-B404-0648777C5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81BB7-39C0-D060-4CA3-DB6E7FCC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590E78-D3CD-55A6-F728-E5CBBB4E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9189D4-008B-78DE-DF2B-9AD43ABE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23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3066E-158F-1A21-AD12-0CED10E4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6C2224-1068-5068-7BC6-8CC0790E4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36E94C-8FF8-429C-5F67-F769CA018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110F1B-F3FF-6B33-09A4-2E2B08F7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387E57-1CCF-3F58-A74C-68316E584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34DEFD-A2EA-2629-DA7C-0504D0D9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757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646CB-17DB-B231-50F0-039C48FA4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50FACD-3802-95F4-0397-C152B2291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28F0DE-9051-4116-0690-38A067E02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64FDC65-D474-3122-2244-41D8C2AFC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8F07B4-C93C-69DF-E84D-E8E4AF9C8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E49E611-D8B6-A357-9AC3-546A55CA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3EE549-0C8C-65C7-4D6D-7AAB7708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75F3AC1-40D0-3DDE-7533-6ACDAAC4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0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53970-2C33-1E2B-417D-5819D434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DA40EB5-9D24-4950-3777-4F77AE28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0B9798-92CD-2E8F-B7F3-53B627E3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969EE3A-B3F7-47B0-577F-B7F2B627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027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C1C11F7-516F-EC89-F441-936FA816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5FBEA0-E4CD-E54B-365C-0D7E275F0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E12A79-3AB8-FCC7-66AA-EDE775DD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77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6EA80-BA49-6921-EEC8-A9267D33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2CCF59-5A57-FCFB-3FF2-301F6272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413472-DCDF-BF04-BAE3-DB3EE836C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E6A3A8-A436-E5C9-87A3-5178FFB3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34B91B-5DB6-29A3-904D-B2E280EC8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4170C0-9407-1135-5A43-8E898215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74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43EAAF-626E-7D0C-4161-98ECC264F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BF2ED3F-EDA2-426C-EBEA-3577530E91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C57C04-F8FD-9AFE-2FA2-6671797B1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18FF1F-A2D4-37A8-790C-50455BF2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03D43B-7868-C3DD-DC38-DC7882D6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1020C4-CA59-B42C-8583-FA2C5D3C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51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9A6920-095A-1386-D08E-2C0C09FC1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D61B66-8663-DDC9-D4B1-7368982EA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E4332D-2C6C-FA94-4E31-8667792E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CCF79A-F48D-5622-8145-231E079A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7DC8C2-992E-B130-12BD-707D10C2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235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A5E6BE-3E99-E295-25CC-BFEA4FF977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34DCB9-E591-EBC7-EE94-AA99AF12E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61F8F1-4E1B-CE0A-E4E2-B599B7A4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70FC07-C8BA-BEA2-C5D0-BAA98140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E2A01A-84B2-EAFA-B730-C06924BF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14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24A390-8CAF-87BB-7AA6-78822008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45108C-8027-396A-F204-01221D830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B167E1-E214-479C-FB80-1D6F0959A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583BD-D098-410F-86E2-93DB05168C6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3590C3-B8F6-749B-531A-37C2721E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EF5DAA-CA03-E2E0-C24B-5DB9238EC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34EF4-6E5E-443F-BAC1-87E6E6113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99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F7823C27-0F04-F942-41D8-825275BBAB7A}"/>
              </a:ext>
            </a:extLst>
          </p:cNvPr>
          <p:cNvGrpSpPr/>
          <p:nvPr/>
        </p:nvGrpSpPr>
        <p:grpSpPr>
          <a:xfrm>
            <a:off x="1888835" y="78130"/>
            <a:ext cx="9984308" cy="6535568"/>
            <a:chOff x="1888835" y="78130"/>
            <a:chExt cx="9984308" cy="6535568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375DE50D-D298-D274-0906-C398C1AE83DC}"/>
                </a:ext>
              </a:extLst>
            </p:cNvPr>
            <p:cNvSpPr/>
            <p:nvPr/>
          </p:nvSpPr>
          <p:spPr>
            <a:xfrm>
              <a:off x="4802908" y="78130"/>
              <a:ext cx="3060000" cy="72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E2E</a:t>
              </a:r>
              <a:r>
                <a:rPr kumimoji="1" lang="ja-JP" altLang="en-US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自動運転モデル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A9D25E88-A654-2CC4-924D-DF41DD1A0A45}"/>
                </a:ext>
              </a:extLst>
            </p:cNvPr>
            <p:cNvSpPr/>
            <p:nvPr/>
          </p:nvSpPr>
          <p:spPr>
            <a:xfrm>
              <a:off x="4802908" y="1348509"/>
              <a:ext cx="3060000" cy="72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ルールベース型</a:t>
              </a:r>
              <a:r>
                <a:rPr lang="ja-JP" altLang="en-US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安全ガード</a:t>
              </a:r>
              <a:endParaRPr kumimoji="1" lang="ja-JP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B2A6C627-8BF8-50DA-4778-2A964CDD0BE9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6332908" y="798130"/>
              <a:ext cx="0" cy="5503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35217741-ADFD-816D-75C4-A807B93A9F9A}"/>
                </a:ext>
              </a:extLst>
            </p:cNvPr>
            <p:cNvSpPr txBox="1"/>
            <p:nvPr/>
          </p:nvSpPr>
          <p:spPr>
            <a:xfrm>
              <a:off x="6332908" y="858516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経路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3853C13-53DC-7F1F-1CBD-083505AC3C35}"/>
                </a:ext>
              </a:extLst>
            </p:cNvPr>
            <p:cNvSpPr txBox="1"/>
            <p:nvPr/>
          </p:nvSpPr>
          <p:spPr>
            <a:xfrm>
              <a:off x="8105765" y="1381927"/>
              <a:ext cx="3767378" cy="6463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r>
                <a:rPr kumimoji="1"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課題</a:t>
              </a: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①：</a:t>
              </a:r>
              <a:r>
                <a:rPr lang="ja-JP" altLang="ja-JP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元の経路を尊重した</a:t>
              </a:r>
              <a:endPara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　　</a:t>
              </a:r>
              <a:r>
                <a:rPr lang="ja-JP" altLang="ja-JP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安全</a:t>
              </a: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性</a:t>
              </a:r>
              <a:r>
                <a:rPr lang="ja-JP" altLang="ja-JP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検証・</a:t>
              </a: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経路</a:t>
              </a:r>
              <a:r>
                <a:rPr lang="ja-JP" altLang="ja-JP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補正方法</a:t>
              </a:r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11" name="コネクタ: カギ線 10">
              <a:extLst>
                <a:ext uri="{FF2B5EF4-FFF2-40B4-BE49-F238E27FC236}">
                  <a16:creationId xmlns:a16="http://schemas.microsoft.com/office/drawing/2014/main" id="{C60685FB-8867-FC54-9584-04B2C9CD9E03}"/>
                </a:ext>
              </a:extLst>
            </p:cNvPr>
            <p:cNvCxnSpPr>
              <a:cxnSpLocks/>
              <a:stCxn id="5" idx="2"/>
              <a:endCxn id="13" idx="0"/>
            </p:cNvCxnSpPr>
            <p:nvPr/>
          </p:nvCxnSpPr>
          <p:spPr>
            <a:xfrm rot="5400000">
              <a:off x="4418511" y="1068834"/>
              <a:ext cx="914723" cy="291407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F1477F5-D921-6980-8868-D9424F3BB758}"/>
                </a:ext>
              </a:extLst>
            </p:cNvPr>
            <p:cNvSpPr/>
            <p:nvPr/>
          </p:nvSpPr>
          <p:spPr>
            <a:xfrm>
              <a:off x="1888835" y="2983232"/>
              <a:ext cx="3060000" cy="72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E2E</a:t>
              </a:r>
              <a:r>
                <a:rPr lang="ja-JP" altLang="en-US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の出力経路を使用</a:t>
              </a:r>
              <a:endParaRPr kumimoji="1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D29BA150-F74F-E089-EA6F-A8CAA21CDBC2}"/>
                </a:ext>
              </a:extLst>
            </p:cNvPr>
            <p:cNvSpPr/>
            <p:nvPr/>
          </p:nvSpPr>
          <p:spPr>
            <a:xfrm>
              <a:off x="7734980" y="2983232"/>
              <a:ext cx="3060000" cy="72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安全な経路候補を複数生成</a:t>
              </a:r>
              <a:endParaRPr kumimoji="1" lang="en-US" altLang="ja-JP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en-US" altLang="ja-JP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(</a:t>
              </a:r>
              <a:r>
                <a:rPr lang="ja-JP" altLang="en-US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減速</a:t>
              </a:r>
              <a:r>
                <a:rPr lang="en-US" altLang="ja-JP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ja-JP" altLang="en-US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車線変更等</a:t>
              </a:r>
              <a:r>
                <a:rPr lang="en-US" altLang="ja-JP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</a:t>
              </a:r>
              <a:endParaRPr kumimoji="1" lang="ja-JP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17" name="コネクタ: カギ線 16">
              <a:extLst>
                <a:ext uri="{FF2B5EF4-FFF2-40B4-BE49-F238E27FC236}">
                  <a16:creationId xmlns:a16="http://schemas.microsoft.com/office/drawing/2014/main" id="{9F877B94-2F56-80CA-D2EA-3FDE865957E2}"/>
                </a:ext>
              </a:extLst>
            </p:cNvPr>
            <p:cNvCxnSpPr>
              <a:cxnSpLocks/>
              <a:stCxn id="5" idx="2"/>
              <a:endCxn id="16" idx="0"/>
            </p:cNvCxnSpPr>
            <p:nvPr/>
          </p:nvCxnSpPr>
          <p:spPr>
            <a:xfrm rot="16200000" flipH="1">
              <a:off x="7341583" y="1059834"/>
              <a:ext cx="914723" cy="293207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6AE899F-652B-1DF1-DCAE-25D03400AAA2}"/>
                </a:ext>
              </a:extLst>
            </p:cNvPr>
            <p:cNvSpPr txBox="1"/>
            <p:nvPr/>
          </p:nvSpPr>
          <p:spPr>
            <a:xfrm>
              <a:off x="3334626" y="2192311"/>
              <a:ext cx="12987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安全条件</a:t>
              </a:r>
              <a:r>
                <a:rPr lang="en-US" altLang="ja-JP" sz="16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OK</a:t>
              </a:r>
              <a:endPara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8409D6FB-B73A-A843-8D4A-036B4C071445}"/>
                </a:ext>
              </a:extLst>
            </p:cNvPr>
            <p:cNvSpPr txBox="1"/>
            <p:nvPr/>
          </p:nvSpPr>
          <p:spPr>
            <a:xfrm>
              <a:off x="7995156" y="2192311"/>
              <a:ext cx="1306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安全条件</a:t>
              </a:r>
              <a:r>
                <a:rPr kumimoji="1" lang="en-US" altLang="ja-JP" sz="16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NG</a:t>
              </a:r>
              <a:endPara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3FCEA452-2238-366A-A2CE-A3DDDA0AD637}"/>
                </a:ext>
              </a:extLst>
            </p:cNvPr>
            <p:cNvCxnSpPr>
              <a:cxnSpLocks/>
              <a:stCxn id="16" idx="2"/>
              <a:endCxn id="36" idx="0"/>
            </p:cNvCxnSpPr>
            <p:nvPr/>
          </p:nvCxnSpPr>
          <p:spPr>
            <a:xfrm>
              <a:off x="9264980" y="3703232"/>
              <a:ext cx="0" cy="4526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四角形: 角を丸くする 35">
              <a:extLst>
                <a:ext uri="{FF2B5EF4-FFF2-40B4-BE49-F238E27FC236}">
                  <a16:creationId xmlns:a16="http://schemas.microsoft.com/office/drawing/2014/main" id="{2614D192-2D69-D094-0A3C-2128CC4A0DFC}"/>
                </a:ext>
              </a:extLst>
            </p:cNvPr>
            <p:cNvSpPr/>
            <p:nvPr/>
          </p:nvSpPr>
          <p:spPr>
            <a:xfrm>
              <a:off x="7734980" y="4155832"/>
              <a:ext cx="3060000" cy="684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World Model</a:t>
              </a:r>
              <a:endParaRPr kumimoji="1" lang="ja-JP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72FA9300-5F8A-00AC-4A8C-F1F01972D298}"/>
                </a:ext>
              </a:extLst>
            </p:cNvPr>
            <p:cNvCxnSpPr>
              <a:cxnSpLocks/>
              <a:stCxn id="36" idx="2"/>
              <a:endCxn id="43" idx="0"/>
            </p:cNvCxnSpPr>
            <p:nvPr/>
          </p:nvCxnSpPr>
          <p:spPr>
            <a:xfrm>
              <a:off x="9264980" y="4839832"/>
              <a:ext cx="0" cy="4526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CDBD4EEB-8BC6-1C1F-2F29-6A64C122034F}"/>
                </a:ext>
              </a:extLst>
            </p:cNvPr>
            <p:cNvSpPr txBox="1"/>
            <p:nvPr/>
          </p:nvSpPr>
          <p:spPr>
            <a:xfrm>
              <a:off x="9273139" y="3765723"/>
              <a:ext cx="15840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複数の候補</a:t>
              </a:r>
              <a:r>
                <a:rPr kumimoji="1" lang="ja-JP" altLang="en-US" sz="16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経路</a:t>
              </a: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C3F4B48-C94B-8949-9BA5-52E42326A0AB}"/>
                </a:ext>
              </a:extLst>
            </p:cNvPr>
            <p:cNvSpPr txBox="1"/>
            <p:nvPr/>
          </p:nvSpPr>
          <p:spPr>
            <a:xfrm>
              <a:off x="9340528" y="4891387"/>
              <a:ext cx="1378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選択後の経路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125CE901-96F4-8B4A-3122-CDFF278E7165}"/>
                </a:ext>
              </a:extLst>
            </p:cNvPr>
            <p:cNvSpPr txBox="1"/>
            <p:nvPr/>
          </p:nvSpPr>
          <p:spPr>
            <a:xfrm>
              <a:off x="3557787" y="4147374"/>
              <a:ext cx="3881191" cy="6463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 anchor="ctr">
              <a:spAutoFit/>
            </a:bodyPr>
            <a:lstStyle/>
            <a:p>
              <a:r>
                <a:rPr kumimoji="1"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課題②</a:t>
              </a: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：</a:t>
              </a:r>
              <a:r>
                <a:rPr lang="ja-JP" altLang="ja-JP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他車との相互作用を考慮した</a:t>
              </a:r>
              <a:endPara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　　</a:t>
              </a:r>
              <a:r>
                <a:rPr lang="ja-JP" altLang="ja-JP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自然な安全経路の選択方法</a:t>
              </a:r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07D0EE3A-A2CF-AC24-5E97-1F6CEC2B3DF3}"/>
                </a:ext>
              </a:extLst>
            </p:cNvPr>
            <p:cNvSpPr/>
            <p:nvPr/>
          </p:nvSpPr>
          <p:spPr>
            <a:xfrm>
              <a:off x="7716980" y="5292432"/>
              <a:ext cx="3096000" cy="72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World Model</a:t>
              </a:r>
              <a:r>
                <a:rPr kumimoji="1" lang="ja-JP" altLang="en-US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が選択した</a:t>
              </a:r>
              <a:endParaRPr kumimoji="1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経路を使用</a:t>
              </a: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E2B445FD-78E2-9D51-4F40-5B347E51869E}"/>
                </a:ext>
              </a:extLst>
            </p:cNvPr>
            <p:cNvSpPr txBox="1"/>
            <p:nvPr/>
          </p:nvSpPr>
          <p:spPr>
            <a:xfrm>
              <a:off x="4107901" y="6244366"/>
              <a:ext cx="445001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課題③</a:t>
              </a: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：</a:t>
              </a:r>
              <a:r>
                <a:rPr lang="ja-JP" altLang="ja-JP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実車適用を見据えた実用性の評価</a:t>
              </a:r>
              <a:endParaRPr lang="ja-JP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7086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ワイド画面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健太 松村</dc:creator>
  <cp:lastModifiedBy>健太 松村</cp:lastModifiedBy>
  <cp:revision>1</cp:revision>
  <dcterms:created xsi:type="dcterms:W3CDTF">2026-10-05T02:39:11Z</dcterms:created>
  <dcterms:modified xsi:type="dcterms:W3CDTF">2026-10-05T02:39:32Z</dcterms:modified>
</cp:coreProperties>
</file>